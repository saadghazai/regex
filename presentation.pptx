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60" r:id="rId3"/>
    <p:sldId id="261" r:id="rId4"/>
    <p:sldId id="266" r:id="rId5"/>
    <p:sldId id="301" r:id="rId6"/>
    <p:sldId id="302" r:id="rId7"/>
    <p:sldId id="300" r:id="rId8"/>
    <p:sldId id="269" r:id="rId9"/>
    <p:sldId id="278" r:id="rId10"/>
    <p:sldId id="281" r:id="rId11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Montserrat" pitchFamily="2" charset="77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9DA2E3-9F6A-47F0-9BAA-281CA8FBBC49}">
  <a:tblStyle styleId="{C49DA2E3-9F6A-47F0-9BAA-281CA8FBBC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19"/>
  </p:normalViewPr>
  <p:slideViewPr>
    <p:cSldViewPr snapToGrid="0" snapToObjects="1">
      <p:cViewPr>
        <p:scale>
          <a:sx n="197" d="100"/>
          <a:sy n="197" d="100"/>
        </p:scale>
        <p:origin x="2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e7f9c668d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e7f9c668d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8061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e7f9c668d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e7f9c668d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3946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e7b3cc9d3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e7b3cc9d3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737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e7f9c668d6_0_10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e7f9c668d6_0_10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e7b3cc9d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2" name="Google Shape;2542;ge7b3cc9d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ge6b9cfce84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6" name="Google Shape;3126;ge6b9cfce84_3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1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subTitle" idx="2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subTitle" idx="3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>
            <a:spLocks noGrp="1"/>
          </p:cNvSpPr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7" name="Google Shape;147;p9"/>
          <p:cNvSpPr txBox="1">
            <a:spLocks noGrp="1"/>
          </p:cNvSpPr>
          <p:nvPr>
            <p:ph type="subTitle" idx="1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8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"/>
          <p:cNvSpPr txBox="1">
            <a:spLocks noGrp="1"/>
          </p:cNvSpPr>
          <p:nvPr>
            <p:ph type="body" idx="1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>
            <a:spLocks noGrp="1"/>
          </p:cNvSpPr>
          <p:nvPr>
            <p:ph type="body" idx="3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19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>
            <a:spLocks noGrp="1"/>
          </p:cNvSpPr>
          <p:nvPr>
            <p:ph type="subTitle" idx="5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>
            <a:spLocks noGrp="1"/>
          </p:cNvSpPr>
          <p:nvPr>
            <p:ph type="body" idx="1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21"/>
          <p:cNvSpPr txBox="1">
            <a:spLocks noGrp="1"/>
          </p:cNvSpPr>
          <p:nvPr>
            <p:ph type="subTitle" idx="2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2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22"/>
          <p:cNvSpPr txBox="1">
            <a:spLocks noGrp="1"/>
          </p:cNvSpPr>
          <p:nvPr>
            <p:ph type="subTitle" idx="1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0" name="Google Shape;400;p22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65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QsYXa1EH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7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{</a:t>
            </a:r>
          </a:p>
        </p:txBody>
      </p:sp>
      <p:sp>
        <p:nvSpPr>
          <p:cNvPr id="461" name="Google Shape;461;p27"/>
          <p:cNvSpPr txBox="1">
            <a:spLocks noGrp="1"/>
          </p:cNvSpPr>
          <p:nvPr>
            <p:ph type="subTitle" idx="2"/>
          </p:nvPr>
        </p:nvSpPr>
        <p:spPr>
          <a:xfrm>
            <a:off x="1666575" y="2307162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Regular Expressions</a:t>
            </a:r>
            <a:endParaRPr dirty="0">
              <a:solidFill>
                <a:schemeClr val="accent6"/>
              </a:solidFill>
            </a:endParaRPr>
          </a:p>
        </p:txBody>
      </p:sp>
      <p:grpSp>
        <p:nvGrpSpPr>
          <p:cNvPr id="462" name="Google Shape;462;p27"/>
          <p:cNvGrpSpPr/>
          <p:nvPr/>
        </p:nvGrpSpPr>
        <p:grpSpPr>
          <a:xfrm>
            <a:off x="1413525" y="1759900"/>
            <a:ext cx="506100" cy="2444350"/>
            <a:chOff x="1413525" y="1759900"/>
            <a:chExt cx="506100" cy="2444350"/>
          </a:xfrm>
        </p:grpSpPr>
        <p:cxnSp>
          <p:nvCxnSpPr>
            <p:cNvPr id="463" name="Google Shape;463;p27"/>
            <p:cNvCxnSpPr/>
            <p:nvPr/>
          </p:nvCxnSpPr>
          <p:spPr>
            <a:xfrm>
              <a:off x="1552225" y="1759900"/>
              <a:ext cx="0" cy="17634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4" name="Google Shape;464;p27"/>
            <p:cNvSpPr txBox="1"/>
            <p:nvPr/>
          </p:nvSpPr>
          <p:spPr>
            <a:xfrm>
              <a:off x="1413525" y="3557750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3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"/>
          <p:cNvSpPr txBox="1">
            <a:spLocks noGrp="1"/>
          </p:cNvSpPr>
          <p:nvPr>
            <p:ph type="subTitle" idx="2"/>
          </p:nvPr>
        </p:nvSpPr>
        <p:spPr>
          <a:xfrm>
            <a:off x="2311712" y="2181748"/>
            <a:ext cx="5137500" cy="7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Regular Expressions allows us to search for spec</a:t>
            </a:r>
            <a:r>
              <a:rPr lang="en-US" dirty="0" err="1"/>
              <a:t>i</a:t>
            </a:r>
            <a:r>
              <a:rPr lang="en" dirty="0"/>
              <a:t>fic patterns in text </a:t>
            </a:r>
            <a:endParaRPr dirty="0"/>
          </a:p>
        </p:txBody>
      </p:sp>
      <p:sp>
        <p:nvSpPr>
          <p:cNvPr id="515" name="Google Shape;515;p31"/>
          <p:cNvSpPr txBox="1">
            <a:spLocks noGrp="1"/>
          </p:cNvSpPr>
          <p:nvPr>
            <p:ph type="title"/>
          </p:nvPr>
        </p:nvSpPr>
        <p:spPr>
          <a:xfrm>
            <a:off x="1190958" y="1594939"/>
            <a:ext cx="4057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Basic Concept </a:t>
            </a:r>
            <a:r>
              <a:rPr lang="en" dirty="0">
                <a:solidFill>
                  <a:schemeClr val="accent6"/>
                </a:solidFill>
              </a:rPr>
              <a:t>{</a:t>
            </a:r>
            <a:r>
              <a:rPr lang="en" dirty="0"/>
              <a:t> </a:t>
            </a:r>
            <a:endParaRPr dirty="0"/>
          </a:p>
        </p:txBody>
      </p:sp>
      <p:grpSp>
        <p:nvGrpSpPr>
          <p:cNvPr id="554" name="Google Shape;554;p31"/>
          <p:cNvGrpSpPr/>
          <p:nvPr/>
        </p:nvGrpSpPr>
        <p:grpSpPr>
          <a:xfrm>
            <a:off x="1132533" y="2181748"/>
            <a:ext cx="506100" cy="1366863"/>
            <a:chOff x="1084825" y="3203163"/>
            <a:chExt cx="506100" cy="1366863"/>
          </a:xfrm>
        </p:grpSpPr>
        <p:cxnSp>
          <p:nvCxnSpPr>
            <p:cNvPr id="555" name="Google Shape;555;p31"/>
            <p:cNvCxnSpPr/>
            <p:nvPr/>
          </p:nvCxnSpPr>
          <p:spPr>
            <a:xfrm>
              <a:off x="1337875" y="3203163"/>
              <a:ext cx="0" cy="7317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6" name="Google Shape;556;p31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dirty="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 dirty="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  <p:sp>
        <p:nvSpPr>
          <p:cNvPr id="13" name="Subtitle 12">
            <a:extLst>
              <a:ext uri="{FF2B5EF4-FFF2-40B4-BE49-F238E27FC236}">
                <a16:creationId xmlns:a16="http://schemas.microsoft.com/office/drawing/2014/main" id="{A82FD6D9-A02D-CD4C-8A2B-EA754199F02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56656FEE-8D11-C345-8371-50966A14451D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Simple Example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672862" y="1869475"/>
            <a:ext cx="5960379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‘Saad Ate an Apple’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If the regex pattern is “Apple” it will match the string 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" name="Subtitle 9">
            <a:extLst>
              <a:ext uri="{FF2B5EF4-FFF2-40B4-BE49-F238E27FC236}">
                <a16:creationId xmlns:a16="http://schemas.microsoft.com/office/drawing/2014/main" id="{99EFDB65-86B2-0F4A-BA7D-F767936D04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DAB1D3-4F17-5B41-BEAB-2D0929BA1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BF645DD7-9B1B-5543-AE3B-E8E55158A4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280025" y="1299450"/>
            <a:ext cx="6080723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C</a:t>
            </a:r>
            <a:r>
              <a:rPr lang="en" dirty="0" err="1">
                <a:solidFill>
                  <a:schemeClr val="accent3"/>
                </a:solidFill>
              </a:rPr>
              <a:t>haracter</a:t>
            </a:r>
            <a:r>
              <a:rPr lang="en" dirty="0">
                <a:solidFill>
                  <a:schemeClr val="accent3"/>
                </a:solidFill>
              </a:rPr>
              <a:t> class: [A-Z] or [0-9]</a:t>
            </a: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I</a:t>
            </a:r>
            <a:r>
              <a:rPr lang="en" dirty="0">
                <a:solidFill>
                  <a:schemeClr val="accent3"/>
                </a:solidFill>
              </a:rPr>
              <a:t>t can be multiple classes at once: [A-Z0-9]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590925" y="1399873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[ ]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280025" y="2195850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Escapes Meta Characters inside character classes: “\[“ will match a literal “[“</a:t>
            </a:r>
          </a:p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Can be used to call special sequences: /d matches all digits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672525" y="2309222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\</a:t>
            </a:r>
          </a:p>
        </p:txBody>
      </p:sp>
      <p:sp>
        <p:nvSpPr>
          <p:cNvPr id="20" name="Google Shape;782;p37">
            <a:extLst>
              <a:ext uri="{FF2B5EF4-FFF2-40B4-BE49-F238E27FC236}">
                <a16:creationId xmlns:a16="http://schemas.microsoft.com/office/drawing/2014/main" id="{255BC503-894F-E24C-80B2-70FCDA0908EE}"/>
              </a:ext>
            </a:extLst>
          </p:cNvPr>
          <p:cNvSpPr txBox="1">
            <a:spLocks/>
          </p:cNvSpPr>
          <p:nvPr/>
        </p:nvSpPr>
        <p:spPr>
          <a:xfrm>
            <a:off x="2280025" y="3155620"/>
            <a:ext cx="46944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Matches anything except newline</a:t>
            </a:r>
          </a:p>
        </p:txBody>
      </p:sp>
      <p:sp>
        <p:nvSpPr>
          <p:cNvPr id="21" name="Google Shape;784;p37">
            <a:extLst>
              <a:ext uri="{FF2B5EF4-FFF2-40B4-BE49-F238E27FC236}">
                <a16:creationId xmlns:a16="http://schemas.microsoft.com/office/drawing/2014/main" id="{8CD18A5B-6665-9E42-9A65-04B65DD8C205}"/>
              </a:ext>
            </a:extLst>
          </p:cNvPr>
          <p:cNvSpPr txBox="1">
            <a:spLocks/>
          </p:cNvSpPr>
          <p:nvPr/>
        </p:nvSpPr>
        <p:spPr>
          <a:xfrm flipH="1">
            <a:off x="1672525" y="3236376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.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7547F54-5B78-A249-A7D5-652AD9C03EB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B5B499D-1D45-EA43-9C3E-3C40825ACFF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25B77C7D-58AB-CE40-866C-BAC2211D8B77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157703" y="1583408"/>
            <a:ext cx="6909365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Used to specify the start of a pattern: ^+966 any string that starts with +966</a:t>
            </a:r>
          </a:p>
          <a:p>
            <a:pPr marL="76158" lvl="0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" dirty="0">
              <a:solidFill>
                <a:schemeClr val="accent3"/>
              </a:solidFill>
            </a:endParaRPr>
          </a:p>
          <a:p>
            <a:pPr marL="341342" lvl="0" indent="-265184" algn="l" rtl="0">
              <a:spcBef>
                <a:spcPts val="0"/>
              </a:spcBef>
              <a:spcAft>
                <a:spcPts val="0"/>
              </a:spcAft>
              <a:buSzPts val="1200"/>
              <a:buChar char="∗"/>
            </a:pPr>
            <a:r>
              <a:rPr lang="en-US" dirty="0">
                <a:solidFill>
                  <a:schemeClr val="accent3"/>
                </a:solidFill>
              </a:rPr>
              <a:t>If used at the start of a character class it negate the class: [^0-9] anything except numbers 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Characters: anchors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468603" y="1683831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^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076103" y="2974558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the end of a pattern: end$ will match any string that ends with the word “end”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468603" y="3087930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$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1DAE4-965F-0742-BBB7-6AEB7A75AE20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27FC34-01D1-DA47-93E8-127CA629DD02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E95E003-60C8-6B48-A9EF-515669402E93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9238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7"/>
          <p:cNvSpPr txBox="1">
            <a:spLocks noGrp="1"/>
          </p:cNvSpPr>
          <p:nvPr>
            <p:ph type="body" idx="1"/>
          </p:nvPr>
        </p:nvSpPr>
        <p:spPr>
          <a:xfrm>
            <a:off x="2096115" y="1381136"/>
            <a:ext cx="6080723" cy="75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1342" lvl="0" indent="-265184"/>
            <a:r>
              <a:rPr lang="en-US" dirty="0">
                <a:solidFill>
                  <a:schemeClr val="accent3"/>
                </a:solidFill>
              </a:rPr>
              <a:t>Used to specify an exact number of occurrences: a{3} will match only if a is repeated 3 times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83" name="Google Shape;783;p37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Meta Characters: Quantifiers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784" name="Google Shape;784;p37"/>
          <p:cNvSpPr txBox="1">
            <a:spLocks noGrp="1"/>
          </p:cNvSpPr>
          <p:nvPr>
            <p:ph type="title" idx="2"/>
          </p:nvPr>
        </p:nvSpPr>
        <p:spPr>
          <a:xfrm flipH="1">
            <a:off x="1407015" y="1481559"/>
            <a:ext cx="1215000" cy="4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 }</a:t>
            </a:r>
            <a:endParaRPr dirty="0"/>
          </a:p>
        </p:txBody>
      </p:sp>
      <p:grpSp>
        <p:nvGrpSpPr>
          <p:cNvPr id="791" name="Google Shape;791;p37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792" name="Google Shape;792;p37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793" name="Google Shape;793;p37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782;p37">
            <a:extLst>
              <a:ext uri="{FF2B5EF4-FFF2-40B4-BE49-F238E27FC236}">
                <a16:creationId xmlns:a16="http://schemas.microsoft.com/office/drawing/2014/main" id="{EDD49C9A-C71E-EC4D-9515-932EE25FD4AD}"/>
              </a:ext>
            </a:extLst>
          </p:cNvPr>
          <p:cNvSpPr txBox="1">
            <a:spLocks/>
          </p:cNvSpPr>
          <p:nvPr/>
        </p:nvSpPr>
        <p:spPr>
          <a:xfrm>
            <a:off x="2096115" y="2170741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0 or more occurrences: a* will match a aa </a:t>
            </a:r>
            <a:r>
              <a:rPr lang="en-US" dirty="0" err="1">
                <a:solidFill>
                  <a:schemeClr val="accent3"/>
                </a:solidFill>
              </a:rPr>
              <a:t>aaa</a:t>
            </a:r>
            <a:r>
              <a:rPr lang="en-US" dirty="0">
                <a:solidFill>
                  <a:schemeClr val="accent3"/>
                </a:solidFill>
              </a:rPr>
              <a:t> ..</a:t>
            </a:r>
            <a:r>
              <a:rPr lang="en-US" dirty="0" err="1">
                <a:solidFill>
                  <a:schemeClr val="accent3"/>
                </a:solidFill>
              </a:rPr>
              <a:t>etc</a:t>
            </a:r>
            <a:r>
              <a:rPr lang="en-US" dirty="0">
                <a:solidFill>
                  <a:schemeClr val="accent3"/>
                </a:solidFill>
              </a:rPr>
              <a:t> or no a’s at all </a:t>
            </a:r>
          </a:p>
        </p:txBody>
      </p:sp>
      <p:sp>
        <p:nvSpPr>
          <p:cNvPr id="19" name="Google Shape;784;p37">
            <a:extLst>
              <a:ext uri="{FF2B5EF4-FFF2-40B4-BE49-F238E27FC236}">
                <a16:creationId xmlns:a16="http://schemas.microsoft.com/office/drawing/2014/main" id="{E90289AC-2E24-FF4D-A953-D3C7098B5B67}"/>
              </a:ext>
            </a:extLst>
          </p:cNvPr>
          <p:cNvSpPr txBox="1">
            <a:spLocks/>
          </p:cNvSpPr>
          <p:nvPr/>
        </p:nvSpPr>
        <p:spPr>
          <a:xfrm flipH="1">
            <a:off x="1488615" y="2284113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*</a:t>
            </a:r>
          </a:p>
        </p:txBody>
      </p:sp>
      <p:sp>
        <p:nvSpPr>
          <p:cNvPr id="15" name="Google Shape;782;p37">
            <a:extLst>
              <a:ext uri="{FF2B5EF4-FFF2-40B4-BE49-F238E27FC236}">
                <a16:creationId xmlns:a16="http://schemas.microsoft.com/office/drawing/2014/main" id="{AF307344-F286-6D43-BB6A-19EA6280B888}"/>
              </a:ext>
            </a:extLst>
          </p:cNvPr>
          <p:cNvSpPr txBox="1">
            <a:spLocks/>
          </p:cNvSpPr>
          <p:nvPr/>
        </p:nvSpPr>
        <p:spPr>
          <a:xfrm>
            <a:off x="2096115" y="2846930"/>
            <a:ext cx="6998244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Fira Code"/>
              <a:buChar char="∗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341342" indent="-265184"/>
            <a:r>
              <a:rPr lang="en-US" dirty="0">
                <a:solidFill>
                  <a:schemeClr val="accent3"/>
                </a:solidFill>
              </a:rPr>
              <a:t>Used to specify 1 or more occurrences: a+ will match a aa </a:t>
            </a:r>
            <a:r>
              <a:rPr lang="en-US" dirty="0" err="1">
                <a:solidFill>
                  <a:schemeClr val="accent3"/>
                </a:solidFill>
              </a:rPr>
              <a:t>aaa</a:t>
            </a:r>
            <a:r>
              <a:rPr lang="en-US" dirty="0">
                <a:solidFill>
                  <a:schemeClr val="accent3"/>
                </a:solidFill>
              </a:rPr>
              <a:t> ..</a:t>
            </a:r>
            <a:r>
              <a:rPr lang="en-US" dirty="0" err="1">
                <a:solidFill>
                  <a:schemeClr val="accent3"/>
                </a:solidFill>
              </a:rPr>
              <a:t>etc</a:t>
            </a:r>
            <a:r>
              <a:rPr lang="en-US" dirty="0">
                <a:solidFill>
                  <a:schemeClr val="accent3"/>
                </a:solidFill>
              </a:rPr>
              <a:t> but no a’s at all won’t match</a:t>
            </a:r>
          </a:p>
        </p:txBody>
      </p:sp>
      <p:sp>
        <p:nvSpPr>
          <p:cNvPr id="16" name="Google Shape;784;p37">
            <a:extLst>
              <a:ext uri="{FF2B5EF4-FFF2-40B4-BE49-F238E27FC236}">
                <a16:creationId xmlns:a16="http://schemas.microsoft.com/office/drawing/2014/main" id="{640A8E85-B2F8-8242-8E47-D16A64A437B6}"/>
              </a:ext>
            </a:extLst>
          </p:cNvPr>
          <p:cNvSpPr txBox="1">
            <a:spLocks/>
          </p:cNvSpPr>
          <p:nvPr/>
        </p:nvSpPr>
        <p:spPr>
          <a:xfrm flipH="1">
            <a:off x="1488615" y="2960302"/>
            <a:ext cx="12150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Fira Code"/>
              <a:buNone/>
              <a:defRPr sz="2000" b="0" i="0" u="none" strike="noStrike" cap="none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Code"/>
              <a:buNone/>
              <a:defRPr sz="25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" dirty="0"/>
              <a:t>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A94A9-44D2-A049-8E1B-BEF924491B1F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3305837-7328-A747-8CFB-2AD0BA3309EC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76A64F-ABCC-2E47-A0A8-AD6745502859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1894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"/>
          <p:cNvSpPr txBox="1">
            <a:spLocks noGrp="1"/>
          </p:cNvSpPr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subTitle" idx="1"/>
          </p:nvPr>
        </p:nvSpPr>
        <p:spPr>
          <a:xfrm>
            <a:off x="1672862" y="1869475"/>
            <a:ext cx="5960379" cy="14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‘Saad email is </a:t>
            </a:r>
            <a:r>
              <a:rPr lang="en" dirty="0" err="1">
                <a:solidFill>
                  <a:schemeClr val="accent2"/>
                </a:solidFill>
              </a:rPr>
              <a:t>saadgh@gmail.com</a:t>
            </a:r>
            <a:r>
              <a:rPr lang="en" dirty="0">
                <a:solidFill>
                  <a:schemeClr val="accent2"/>
                </a:solidFill>
              </a:rPr>
              <a:t>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accent2"/>
              </a:solidFill>
            </a:endParaRPr>
          </a:p>
          <a:p>
            <a:pPr marL="0" indent="0"/>
            <a:r>
              <a:rPr lang="en-US" dirty="0">
                <a:solidFill>
                  <a:schemeClr val="accent3"/>
                </a:solidFill>
              </a:rPr>
              <a:t>Pattern = </a:t>
            </a:r>
            <a:r>
              <a:rPr lang="en-US" dirty="0"/>
              <a:t>[A-Za-z0-9]+@[a-z]+.com</a:t>
            </a:r>
          </a:p>
        </p:txBody>
      </p:sp>
      <p:grpSp>
        <p:nvGrpSpPr>
          <p:cNvPr id="563" name="Google Shape;563;p32"/>
          <p:cNvGrpSpPr/>
          <p:nvPr/>
        </p:nvGrpSpPr>
        <p:grpSpPr>
          <a:xfrm>
            <a:off x="1084825" y="1168950"/>
            <a:ext cx="506100" cy="3431975"/>
            <a:chOff x="1084825" y="1168950"/>
            <a:chExt cx="506100" cy="3431975"/>
          </a:xfrm>
        </p:grpSpPr>
        <p:sp>
          <p:nvSpPr>
            <p:cNvPr id="564" name="Google Shape;564;p32"/>
            <p:cNvSpPr txBox="1"/>
            <p:nvPr/>
          </p:nvSpPr>
          <p:spPr>
            <a:xfrm>
              <a:off x="1084825" y="3954425"/>
              <a:ext cx="506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565" name="Google Shape;565;p32"/>
            <p:cNvCxnSpPr/>
            <p:nvPr/>
          </p:nvCxnSpPr>
          <p:spPr>
            <a:xfrm>
              <a:off x="1337875" y="1168950"/>
              <a:ext cx="0" cy="27672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EC4D50D-C3E0-B342-8D73-FA0D4ECE6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E6C6E8F-1594-4E4A-B249-9D2F45251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18773FF-A92C-7241-A0F5-4A65B93460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438153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0"/>
          <p:cNvSpPr txBox="1">
            <a:spLocks noGrp="1"/>
          </p:cNvSpPr>
          <p:nvPr>
            <p:ph type="title"/>
          </p:nvPr>
        </p:nvSpPr>
        <p:spPr>
          <a:xfrm>
            <a:off x="1329447" y="1194149"/>
            <a:ext cx="5625203" cy="20808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Practical Examples</a:t>
            </a:r>
            <a:endParaRPr sz="50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49"/>
          <p:cNvSpPr txBox="1">
            <a:spLocks noGrp="1"/>
          </p:cNvSpPr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Thanks; </a:t>
            </a:r>
            <a:r>
              <a:rPr lang="en">
                <a:solidFill>
                  <a:schemeClr val="accent6"/>
                </a:solidFill>
              </a:rPr>
              <a:t>{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546" name="Google Shape;2546;p49"/>
          <p:cNvSpPr txBox="1">
            <a:spLocks noGrp="1"/>
          </p:cNvSpPr>
          <p:nvPr>
            <p:ph type="subTitle" idx="2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‘Do you have any questions?’</a:t>
            </a:r>
            <a:endParaRPr/>
          </a:p>
        </p:txBody>
      </p:sp>
      <p:grpSp>
        <p:nvGrpSpPr>
          <p:cNvPr id="2573" name="Google Shape;2573;p49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2574" name="Google Shape;2574;p49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2575" name="Google Shape;2575;p49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3F2D217C-4F55-104A-BEA8-820634EE5C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8" name="Google Shape;3128;p52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Resources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" dirty="0">
                <a:solidFill>
                  <a:schemeClr val="accent6"/>
                </a:solidFill>
              </a:rPr>
              <a:t>{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3129" name="Google Shape;3129;p52"/>
          <p:cNvSpPr txBox="1">
            <a:spLocks noGrp="1"/>
          </p:cNvSpPr>
          <p:nvPr>
            <p:ph type="body" idx="1"/>
          </p:nvPr>
        </p:nvSpPr>
        <p:spPr>
          <a:xfrm>
            <a:off x="1590925" y="1263720"/>
            <a:ext cx="7241521" cy="21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Documentation:</a:t>
            </a:r>
            <a:endParaRPr dirty="0">
              <a:solidFill>
                <a:schemeClr val="accent2"/>
              </a:solidFill>
            </a:endParaRPr>
          </a:p>
          <a:p>
            <a:pPr lvl="0">
              <a:spcBef>
                <a:spcPts val="1200"/>
              </a:spcBef>
            </a:pPr>
            <a:r>
              <a:rPr lang="en-US" sz="1400" dirty="0">
                <a:uFill>
                  <a:noFill/>
                </a:uFill>
              </a:rPr>
              <a:t>https://</a:t>
            </a:r>
            <a:r>
              <a:rPr lang="en-US" sz="1400" dirty="0" err="1">
                <a:uFill>
                  <a:noFill/>
                </a:uFill>
              </a:rPr>
              <a:t>docs.python.org</a:t>
            </a:r>
            <a:r>
              <a:rPr lang="en-US" sz="1400" dirty="0">
                <a:uFill>
                  <a:noFill/>
                </a:uFill>
              </a:rPr>
              <a:t>/3/</a:t>
            </a:r>
            <a:r>
              <a:rPr lang="en-US" sz="1400" dirty="0" err="1">
                <a:uFill>
                  <a:noFill/>
                </a:uFill>
              </a:rPr>
              <a:t>howto</a:t>
            </a:r>
            <a:r>
              <a:rPr lang="en-US" sz="1400" dirty="0">
                <a:uFill>
                  <a:noFill/>
                </a:uFill>
              </a:rPr>
              <a:t>/</a:t>
            </a:r>
            <a:r>
              <a:rPr lang="en-US" sz="1400" dirty="0" err="1">
                <a:uFill>
                  <a:noFill/>
                </a:uFill>
              </a:rPr>
              <a:t>regex.html#splitting-strings</a:t>
            </a:r>
            <a:r>
              <a:rPr lang="en-US" sz="1400" dirty="0">
                <a:uFill>
                  <a:noFill/>
                </a:uFill>
              </a:rPr>
              <a:t> </a:t>
            </a:r>
          </a:p>
          <a:p>
            <a:pPr lvl="0">
              <a:spcBef>
                <a:spcPts val="1200"/>
              </a:spcBef>
            </a:pPr>
            <a:r>
              <a:rPr lang="en-US" sz="1400" dirty="0">
                <a:uFill>
                  <a:noFill/>
                </a:uFill>
              </a:rPr>
              <a:t>https://</a:t>
            </a:r>
            <a:r>
              <a:rPr lang="en-US" sz="1400" dirty="0" err="1">
                <a:uFill>
                  <a:noFill/>
                </a:uFill>
              </a:rPr>
              <a:t>docs.python.org</a:t>
            </a:r>
            <a:r>
              <a:rPr lang="en-US" sz="1400" dirty="0">
                <a:uFill>
                  <a:noFill/>
                </a:uFill>
              </a:rPr>
              <a:t>/3/library/</a:t>
            </a:r>
            <a:r>
              <a:rPr lang="en-US" sz="1400" dirty="0" err="1">
                <a:uFill>
                  <a:noFill/>
                </a:uFill>
              </a:rPr>
              <a:t>re.html#text-munging</a:t>
            </a:r>
            <a:r>
              <a:rPr lang="en-US" sz="1400" dirty="0">
                <a:uFill>
                  <a:noFill/>
                </a:uFill>
              </a:rPr>
              <a:t> </a:t>
            </a:r>
          </a:p>
          <a:p>
            <a:pPr lvl="0">
              <a:spcBef>
                <a:spcPts val="1200"/>
              </a:spcBef>
            </a:pPr>
            <a:endParaRPr lang="en-US" sz="1400" dirty="0">
              <a:uFill>
                <a:noFill/>
              </a:uFill>
            </a:endParaRPr>
          </a:p>
          <a:p>
            <a:pPr marL="139700" lvl="0" indent="0">
              <a:spcBef>
                <a:spcPts val="1200"/>
              </a:spcBef>
              <a:buNone/>
            </a:pPr>
            <a:r>
              <a:rPr lang="en" dirty="0" err="1">
                <a:solidFill>
                  <a:schemeClr val="accent1"/>
                </a:solidFill>
              </a:rPr>
              <a:t>Youtube</a:t>
            </a:r>
            <a:r>
              <a:rPr lang="en" dirty="0">
                <a:solidFill>
                  <a:schemeClr val="accent1"/>
                </a:solidFill>
              </a:rPr>
              <a:t> Videos:</a:t>
            </a:r>
          </a:p>
          <a:p>
            <a:pPr lvl="0"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https://www.youtube.com/watch?v=UQQsYXa1EHs</a:t>
            </a:r>
            <a:endParaRPr lang="en-US" sz="1400" dirty="0">
              <a:solidFill>
                <a:schemeClr val="bg1"/>
              </a:solidFill>
              <a:uFill>
                <a:noFill/>
              </a:uFill>
            </a:endParaRPr>
          </a:p>
          <a:p>
            <a:pPr lvl="0"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https://</a:t>
            </a:r>
            <a:r>
              <a:rPr lang="en-US" sz="1400" dirty="0" err="1">
                <a:solidFill>
                  <a:schemeClr val="bg1"/>
                </a:solidFill>
                <a:uFill>
                  <a:noFill/>
                </a:uFill>
              </a:rPr>
              <a:t>www.youtube.com</a:t>
            </a: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/</a:t>
            </a:r>
            <a:r>
              <a:rPr lang="en-US" sz="1400" dirty="0" err="1">
                <a:solidFill>
                  <a:schemeClr val="bg1"/>
                </a:solidFill>
                <a:uFill>
                  <a:noFill/>
                </a:uFill>
              </a:rPr>
              <a:t>watch?v</a:t>
            </a:r>
            <a:r>
              <a:rPr lang="en-US" sz="1400" dirty="0">
                <a:solidFill>
                  <a:schemeClr val="bg1"/>
                </a:solidFill>
                <a:uFill>
                  <a:noFill/>
                </a:uFill>
              </a:rPr>
              <a:t>=K8L6KVGG-7o</a:t>
            </a:r>
          </a:p>
          <a:p>
            <a:pPr lvl="0">
              <a:spcBef>
                <a:spcPts val="1200"/>
              </a:spcBef>
            </a:pPr>
            <a:endParaRPr lang="en-US" sz="1400" dirty="0">
              <a:uFill>
                <a:noFill/>
              </a:uFill>
            </a:endParaRPr>
          </a:p>
          <a:p>
            <a:pPr lvl="0">
              <a:spcBef>
                <a:spcPts val="1200"/>
              </a:spcBef>
            </a:pPr>
            <a:endParaRPr lang="en-US" dirty="0"/>
          </a:p>
        </p:txBody>
      </p:sp>
      <p:grpSp>
        <p:nvGrpSpPr>
          <p:cNvPr id="3134" name="Google Shape;3134;p52"/>
          <p:cNvGrpSpPr/>
          <p:nvPr/>
        </p:nvGrpSpPr>
        <p:grpSpPr>
          <a:xfrm>
            <a:off x="1084825" y="1152525"/>
            <a:ext cx="506100" cy="3417500"/>
            <a:chOff x="1084825" y="1152525"/>
            <a:chExt cx="506100" cy="3417500"/>
          </a:xfrm>
        </p:grpSpPr>
        <p:sp>
          <p:nvSpPr>
            <p:cNvPr id="3135" name="Google Shape;3135;p52"/>
            <p:cNvSpPr txBox="1"/>
            <p:nvPr/>
          </p:nvSpPr>
          <p:spPr>
            <a:xfrm>
              <a:off x="1084825" y="3954425"/>
              <a:ext cx="5061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chemeClr val="accent6"/>
                  </a:solidFill>
                  <a:latin typeface="Fira Code"/>
                  <a:ea typeface="Fira Code"/>
                  <a:cs typeface="Fira Code"/>
                  <a:sym typeface="Fira Code"/>
                </a:rPr>
                <a:t>}</a:t>
              </a:r>
              <a:endParaRPr sz="28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  <p:cxnSp>
          <p:nvCxnSpPr>
            <p:cNvPr id="3136" name="Google Shape;3136;p52"/>
            <p:cNvCxnSpPr/>
            <p:nvPr/>
          </p:nvCxnSpPr>
          <p:spPr>
            <a:xfrm>
              <a:off x="1337875" y="1152525"/>
              <a:ext cx="0" cy="27810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2D7F54C-059E-2D47-9CD4-9E2D92675FC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F6AA80-1012-C741-B677-5356F80FB2A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0759ED7-951E-2E4B-8CFD-87B7201717E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S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Macintosh PowerPoint</Application>
  <PresentationFormat>On-screen Show (16:9)</PresentationFormat>
  <Paragraphs>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Fira Code</vt:lpstr>
      <vt:lpstr>Montserrat</vt:lpstr>
      <vt:lpstr>Arial</vt:lpstr>
      <vt:lpstr>Programming Language Workshop for Beginners by Slidesgo</vt:lpstr>
      <vt:lpstr>{</vt:lpstr>
      <vt:lpstr>Basic Concept { </vt:lpstr>
      <vt:lpstr>Simple Example {</vt:lpstr>
      <vt:lpstr>Meta Characters {</vt:lpstr>
      <vt:lpstr>Meta Characters: anchors{</vt:lpstr>
      <vt:lpstr>Meta Characters: Quantifiers{</vt:lpstr>
      <vt:lpstr>Example {</vt:lpstr>
      <vt:lpstr>Practical Examples</vt:lpstr>
      <vt:lpstr>Thanks; {</vt:lpstr>
      <vt:lpstr>Resources {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</dc:title>
  <cp:lastModifiedBy>سعد</cp:lastModifiedBy>
  <cp:revision>1</cp:revision>
  <dcterms:modified xsi:type="dcterms:W3CDTF">2022-07-28T08:40:24Z</dcterms:modified>
</cp:coreProperties>
</file>