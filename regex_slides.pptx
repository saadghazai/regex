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3"/>
  </p:notesMasterIdLst>
  <p:sldIdLst>
    <p:sldId id="256" r:id="rId2"/>
    <p:sldId id="260" r:id="rId3"/>
    <p:sldId id="261" r:id="rId4"/>
    <p:sldId id="266" r:id="rId5"/>
    <p:sldId id="303" r:id="rId6"/>
    <p:sldId id="301" r:id="rId7"/>
    <p:sldId id="302" r:id="rId8"/>
    <p:sldId id="300" r:id="rId9"/>
    <p:sldId id="269" r:id="rId10"/>
    <p:sldId id="281" r:id="rId11"/>
    <p:sldId id="278" r:id="rId12"/>
  </p:sldIdLst>
  <p:sldSz cx="9144000" cy="5143500" type="screen16x9"/>
  <p:notesSz cx="6858000" cy="9144000"/>
  <p:embeddedFontLst>
    <p:embeddedFont>
      <p:font typeface="Fira Code" panose="020B0809050000020004" pitchFamily="49" charset="0"/>
      <p:regular r:id="rId14"/>
      <p:bold r:id="rId15"/>
    </p:embeddedFont>
    <p:embeddedFont>
      <p:font typeface="Montserrat" pitchFamily="2" charset="77"/>
      <p:regular r:id="rId16"/>
      <p:bold r:id="rId17"/>
      <p:italic r:id="rId18"/>
      <p:boldItalic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49DA2E3-9F6A-47F0-9BAA-281CA8FBBC49}">
  <a:tblStyle styleId="{C49DA2E3-9F6A-47F0-9BAA-281CA8FBBC4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464"/>
    <p:restoredTop sz="94666"/>
  </p:normalViewPr>
  <p:slideViewPr>
    <p:cSldViewPr snapToGrid="0" snapToObjects="1">
      <p:cViewPr varScale="1">
        <p:scale>
          <a:sx n="189" d="100"/>
          <a:sy n="189" d="100"/>
        </p:scale>
        <p:origin x="59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e7b513348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e7b513348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e7f9c668d6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e7f9c668d6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e7b3cc9d3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e7b3cc9d3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31575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048061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e7f9c668d6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e7f9c668d6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3946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ge7b3cc9d39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9" name="Google Shape;559;ge7b3cc9d39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376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ge7f9c668d6_0_10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9" name="Google Shape;819;ge7f9c668d6_0_10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5" name="Google Shape;3125;ge6b9cfce84_3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6" name="Google Shape;3126;ge6b9cfce84_3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1" name="Google Shape;2541;ge7b3cc9d3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2" name="Google Shape;2542;ge7b3cc9d3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3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2231025" y="2765300"/>
            <a:ext cx="6202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>
                <a:solidFill>
                  <a:schemeClr val="accent3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2"/>
          </p:nvPr>
        </p:nvSpPr>
        <p:spPr>
          <a:xfrm>
            <a:off x="1788725" y="1761800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7" name="Google Shape;17;p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8" name="Google Shape;18;p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9" name="Google Shape;19;p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0" name="Google Shape;20;p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1" name="Google Shape;21;p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2" name="Google Shape;22;p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3" name="Google Shape;23;p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4" name="Google Shape;24;p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5" name="Google Shape;25;p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6" name="Google Shape;26;p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27" name="Google Shape;27;p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5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5"/>
          <p:cNvSpPr/>
          <p:nvPr/>
        </p:nvSpPr>
        <p:spPr>
          <a:xfrm>
            <a:off x="457200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5"/>
          <p:cNvSpPr txBox="1">
            <a:spLocks noGrp="1"/>
          </p:cNvSpPr>
          <p:nvPr>
            <p:ph type="subTitle" idx="1"/>
          </p:nvPr>
        </p:nvSpPr>
        <p:spPr>
          <a:xfrm>
            <a:off x="2240150" y="3143327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1" name="Google Shape;71;p5"/>
          <p:cNvSpPr txBox="1">
            <a:spLocks noGrp="1"/>
          </p:cNvSpPr>
          <p:nvPr>
            <p:ph type="subTitle" idx="2"/>
          </p:nvPr>
        </p:nvSpPr>
        <p:spPr>
          <a:xfrm>
            <a:off x="2240150" y="1151940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5"/>
          <p:cNvSpPr txBox="1">
            <a:spLocks noGrp="1"/>
          </p:cNvSpPr>
          <p:nvPr>
            <p:ph type="subTitle" idx="3"/>
          </p:nvPr>
        </p:nvSpPr>
        <p:spPr>
          <a:xfrm>
            <a:off x="1143250" y="2612625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3" name="Google Shape;73;p5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4" name="Google Shape;74;p5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5" name="Google Shape;75;p5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6" name="Google Shape;76;p5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7" name="Google Shape;77;p5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8" name="Google Shape;78;p5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79" name="Google Shape;79;p5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0" name="Google Shape;80;p5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1" name="Google Shape;81;p5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2" name="Google Shape;82;p5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3" name="Google Shape;83;p5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4" name="Google Shape;84;p5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5" name="Google Shape;85;p5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6" name="Google Shape;86;p5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87" name="Google Shape;87;p5"/>
          <p:cNvSpPr txBox="1">
            <a:spLocks noGrp="1"/>
          </p:cNvSpPr>
          <p:nvPr>
            <p:ph type="title"/>
          </p:nvPr>
        </p:nvSpPr>
        <p:spPr>
          <a:xfrm>
            <a:off x="1143250" y="621240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8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7" name="Google Shape;127;p8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8"/>
          <p:cNvSpPr txBox="1">
            <a:spLocks noGrp="1"/>
          </p:cNvSpPr>
          <p:nvPr>
            <p:ph type="title"/>
          </p:nvPr>
        </p:nvSpPr>
        <p:spPr>
          <a:xfrm>
            <a:off x="2673350" y="1194150"/>
            <a:ext cx="4281300" cy="162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29" name="Google Shape;129;p8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0" name="Google Shape;130;p8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1" name="Google Shape;131;p8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4" name="Google Shape;134;p8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5" name="Google Shape;135;p8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6" name="Google Shape;136;p8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2" name="Google Shape;142;p8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9"/>
          <p:cNvSpPr/>
          <p:nvPr/>
        </p:nvSpPr>
        <p:spPr>
          <a:xfrm>
            <a:off x="0" y="0"/>
            <a:ext cx="4572000" cy="592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6" name="Google Shape;146;p9"/>
          <p:cNvSpPr txBox="1">
            <a:spLocks noGrp="1"/>
          </p:cNvSpPr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47" name="Google Shape;147;p9"/>
          <p:cNvSpPr txBox="1">
            <a:spLocks noGrp="1"/>
          </p:cNvSpPr>
          <p:nvPr>
            <p:ph type="subTitle" idx="1"/>
          </p:nvPr>
        </p:nvSpPr>
        <p:spPr>
          <a:xfrm>
            <a:off x="1593350" y="1574450"/>
            <a:ext cx="5539200" cy="14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48" name="Google Shape;148;p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49" name="Google Shape;149;p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0" name="Google Shape;150;p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3" name="Google Shape;153;p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4" name="Google Shape;154;p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59" name="Google Shape;159;p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0" name="Google Shape;160;p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6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8"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9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9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6" name="Google Shape;336;p19"/>
          <p:cNvSpPr txBox="1">
            <a:spLocks noGrp="1"/>
          </p:cNvSpPr>
          <p:nvPr>
            <p:ph type="body" idx="1"/>
          </p:nvPr>
        </p:nvSpPr>
        <p:spPr>
          <a:xfrm>
            <a:off x="3306200" y="2227588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37" name="Google Shape;337;p19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8" name="Google Shape;338;p19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39" name="Google Shape;339;p19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0" name="Google Shape;340;p19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1" name="Google Shape;341;p19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2" name="Google Shape;342;p19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3" name="Google Shape;343;p19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4" name="Google Shape;344;p19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5" name="Google Shape;345;p19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6" name="Google Shape;346;p19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7" name="Google Shape;347;p19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8" name="Google Shape;348;p19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49" name="Google Shape;349;p19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0" name="Google Shape;350;p19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51" name="Google Shape;351;p19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2" name="Google Shape;352;p19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2091200" y="237226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3" name="Google Shape;353;p19"/>
          <p:cNvSpPr txBox="1">
            <a:spLocks noGrp="1"/>
          </p:cNvSpPr>
          <p:nvPr>
            <p:ph type="body" idx="3"/>
          </p:nvPr>
        </p:nvSpPr>
        <p:spPr>
          <a:xfrm>
            <a:off x="3739600" y="3164425"/>
            <a:ext cx="4694400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Char char="∗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/>
            </a:lvl9pPr>
          </a:lstStyle>
          <a:p>
            <a:endParaRPr/>
          </a:p>
        </p:txBody>
      </p:sp>
      <p:sp>
        <p:nvSpPr>
          <p:cNvPr id="354" name="Google Shape;354;p19"/>
          <p:cNvSpPr txBox="1">
            <a:spLocks noGrp="1"/>
          </p:cNvSpPr>
          <p:nvPr>
            <p:ph type="title" idx="4" hasCustomPrompt="1"/>
          </p:nvPr>
        </p:nvSpPr>
        <p:spPr>
          <a:xfrm flipH="1">
            <a:off x="2524600" y="3309175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000">
                <a:solidFill>
                  <a:schemeClr val="accent2"/>
                </a:solidFill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r>
              <a:t>xx%</a:t>
            </a:r>
          </a:p>
        </p:txBody>
      </p:sp>
      <p:sp>
        <p:nvSpPr>
          <p:cNvPr id="355" name="Google Shape;355;p19"/>
          <p:cNvSpPr txBox="1">
            <a:spLocks noGrp="1"/>
          </p:cNvSpPr>
          <p:nvPr>
            <p:ph type="subTitle" idx="5"/>
          </p:nvPr>
        </p:nvSpPr>
        <p:spPr>
          <a:xfrm>
            <a:off x="1672200" y="1245150"/>
            <a:ext cx="5922000" cy="54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9_1_1"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1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8" name="Google Shape;378;p21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79" name="Google Shape;379;p21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1" name="Google Shape;381;p21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2" name="Google Shape;382;p21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3" name="Google Shape;383;p21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5" name="Google Shape;385;p21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6" name="Google Shape;386;p21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8" name="Google Shape;388;p21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89" name="Google Shape;389;p21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1" name="Google Shape;391;p21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392" name="Google Shape;392;p21"/>
          <p:cNvSpPr txBox="1">
            <a:spLocks noGrp="1"/>
          </p:cNvSpPr>
          <p:nvPr>
            <p:ph type="body" idx="1"/>
          </p:nvPr>
        </p:nvSpPr>
        <p:spPr>
          <a:xfrm>
            <a:off x="2090500" y="1956600"/>
            <a:ext cx="5111400" cy="21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Char char="∗"/>
              <a:defRPr sz="2000">
                <a:solidFill>
                  <a:schemeClr val="accent3"/>
                </a:solidFill>
              </a:defRPr>
            </a:lvl1pPr>
            <a:lvl2pPr marL="914400" lvl="1" indent="-330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 sz="1200">
                <a:solidFill>
                  <a:schemeClr val="accent3"/>
                </a:solidFill>
              </a:defRPr>
            </a:lvl2pPr>
            <a:lvl3pPr marL="1371600" lvl="2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3pPr>
            <a:lvl4pPr marL="1828800" lvl="3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4pPr>
            <a:lvl5pPr marL="2286000" lvl="4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5pPr>
            <a:lvl6pPr marL="2743200" lvl="5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6pPr>
            <a:lvl7pPr marL="3200400" lvl="6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●"/>
              <a:defRPr>
                <a:solidFill>
                  <a:schemeClr val="accent3"/>
                </a:solidFill>
              </a:defRPr>
            </a:lvl7pPr>
            <a:lvl8pPr marL="3657600" lvl="7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○"/>
              <a:defRPr>
                <a:solidFill>
                  <a:schemeClr val="accent3"/>
                </a:solidFill>
              </a:defRPr>
            </a:lvl8pPr>
            <a:lvl9pPr marL="4114800" lvl="8" indent="-330200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600"/>
              <a:buFont typeface="Montserrat"/>
              <a:buChar char="■"/>
              <a:defRPr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93" name="Google Shape;393;p21"/>
          <p:cNvSpPr txBox="1">
            <a:spLocks noGrp="1"/>
          </p:cNvSpPr>
          <p:nvPr>
            <p:ph type="subTitle" idx="2"/>
          </p:nvPr>
        </p:nvSpPr>
        <p:spPr>
          <a:xfrm>
            <a:off x="1676975" y="1309850"/>
            <a:ext cx="54507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>
                <a:solidFill>
                  <a:schemeClr val="accent3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2000"/>
              <a:buNone/>
              <a:defRPr sz="2000" b="1">
                <a:solidFill>
                  <a:schemeClr val="accent3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21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1"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22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7" name="Google Shape;397;p22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8" name="Google Shape;398;p22"/>
          <p:cNvSpPr txBox="1">
            <a:spLocks noGrp="1"/>
          </p:cNvSpPr>
          <p:nvPr>
            <p:ph type="ctrTitle"/>
          </p:nvPr>
        </p:nvSpPr>
        <p:spPr>
          <a:xfrm>
            <a:off x="1139125" y="582056"/>
            <a:ext cx="30645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2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9" name="Google Shape;399;p22"/>
          <p:cNvSpPr txBox="1">
            <a:spLocks noGrp="1"/>
          </p:cNvSpPr>
          <p:nvPr>
            <p:ph type="subTitle" idx="1"/>
          </p:nvPr>
        </p:nvSpPr>
        <p:spPr>
          <a:xfrm>
            <a:off x="2064825" y="1695725"/>
            <a:ext cx="3720600" cy="7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0" name="Google Shape;400;p22"/>
          <p:cNvSpPr txBox="1">
            <a:spLocks noGrp="1"/>
          </p:cNvSpPr>
          <p:nvPr>
            <p:ph type="subTitle" idx="2"/>
          </p:nvPr>
        </p:nvSpPr>
        <p:spPr>
          <a:xfrm>
            <a:off x="1570575" y="1261025"/>
            <a:ext cx="4572000" cy="43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000">
                <a:solidFill>
                  <a:schemeClr val="accent2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01" name="Google Shape;401;p22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2" name="Google Shape;402;p22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3" name="Google Shape;403;p22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4" name="Google Shape;404;p22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5" name="Google Shape;405;p22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6" name="Google Shape;406;p22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7" name="Google Shape;407;p22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8" name="Google Shape;408;p22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09" name="Google Shape;409;p22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0" name="Google Shape;410;p22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1" name="Google Shape;411;p22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2" name="Google Shape;412;p22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3" name="Google Shape;413;p22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4" name="Google Shape;414;p22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15" name="Google Shape;415;p22"/>
          <p:cNvSpPr txBox="1"/>
          <p:nvPr/>
        </p:nvSpPr>
        <p:spPr>
          <a:xfrm>
            <a:off x="2912425" y="3087263"/>
            <a:ext cx="4418100" cy="6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CREDITS: This presentation template was created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including icons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rPr>
              <a:t>, and infographics &amp; images by </a:t>
            </a:r>
            <a:r>
              <a:rPr lang="en" sz="1200" b="1">
                <a:solidFill>
                  <a:schemeClr val="accent3"/>
                </a:solidFill>
                <a:uFill>
                  <a:noFill/>
                </a:uFill>
                <a:latin typeface="Fira Code"/>
                <a:ea typeface="Fira Code"/>
                <a:cs typeface="Fira Code"/>
                <a:sym typeface="Fira Code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200" b="1" u="sng">
              <a:solidFill>
                <a:schemeClr val="accent3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">
  <p:cSld name="CUSTOM_9"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23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8" name="Google Shape;418;p23"/>
          <p:cNvSpPr/>
          <p:nvPr/>
        </p:nvSpPr>
        <p:spPr>
          <a:xfrm>
            <a:off x="457200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23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0" name="Google Shape;420;p23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1" name="Google Shape;421;p23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2" name="Google Shape;422;p23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3" name="Google Shape;423;p23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4" name="Google Shape;424;p23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5" name="Google Shape;425;p23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6" name="Google Shape;426;p23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7" name="Google Shape;427;p23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8" name="Google Shape;428;p23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29" name="Google Shape;429;p23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0" name="Google Shape;430;p23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1" name="Google Shape;431;p23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2" name="Google Shape;432;p23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 1">
  <p:cSld name="CUSTOM_9_2"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24"/>
          <p:cNvSpPr/>
          <p:nvPr/>
        </p:nvSpPr>
        <p:spPr>
          <a:xfrm>
            <a:off x="0" y="542575"/>
            <a:ext cx="9144000" cy="4058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24"/>
          <p:cNvSpPr/>
          <p:nvPr/>
        </p:nvSpPr>
        <p:spPr>
          <a:xfrm>
            <a:off x="0" y="0"/>
            <a:ext cx="4572000" cy="6264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6" name="Google Shape;436;p24"/>
          <p:cNvSpPr txBox="1"/>
          <p:nvPr/>
        </p:nvSpPr>
        <p:spPr>
          <a:xfrm>
            <a:off x="710125" y="745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7" name="Google Shape;437;p24"/>
          <p:cNvSpPr txBox="1"/>
          <p:nvPr/>
        </p:nvSpPr>
        <p:spPr>
          <a:xfrm>
            <a:off x="710125" y="1009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8" name="Google Shape;438;p24"/>
          <p:cNvSpPr txBox="1"/>
          <p:nvPr/>
        </p:nvSpPr>
        <p:spPr>
          <a:xfrm>
            <a:off x="710125" y="1273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39" name="Google Shape;439;p24"/>
          <p:cNvSpPr txBox="1"/>
          <p:nvPr/>
        </p:nvSpPr>
        <p:spPr>
          <a:xfrm>
            <a:off x="710125" y="1537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0" name="Google Shape;440;p24"/>
          <p:cNvSpPr txBox="1"/>
          <p:nvPr/>
        </p:nvSpPr>
        <p:spPr>
          <a:xfrm>
            <a:off x="710125" y="18007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5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710125" y="20644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6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2" name="Google Shape;442;p24"/>
          <p:cNvSpPr txBox="1"/>
          <p:nvPr/>
        </p:nvSpPr>
        <p:spPr>
          <a:xfrm>
            <a:off x="710125" y="23281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7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3" name="Google Shape;443;p24"/>
          <p:cNvSpPr txBox="1"/>
          <p:nvPr/>
        </p:nvSpPr>
        <p:spPr>
          <a:xfrm>
            <a:off x="710125" y="25918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8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4" name="Google Shape;444;p24"/>
          <p:cNvSpPr txBox="1"/>
          <p:nvPr/>
        </p:nvSpPr>
        <p:spPr>
          <a:xfrm>
            <a:off x="710125" y="28555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9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5" name="Google Shape;445;p24"/>
          <p:cNvSpPr txBox="1"/>
          <p:nvPr/>
        </p:nvSpPr>
        <p:spPr>
          <a:xfrm>
            <a:off x="710125" y="31192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10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6" name="Google Shape;446;p24"/>
          <p:cNvSpPr txBox="1"/>
          <p:nvPr/>
        </p:nvSpPr>
        <p:spPr>
          <a:xfrm>
            <a:off x="710125" y="33829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11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7" name="Google Shape;447;p24"/>
          <p:cNvSpPr txBox="1"/>
          <p:nvPr/>
        </p:nvSpPr>
        <p:spPr>
          <a:xfrm>
            <a:off x="710125" y="36466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12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8" name="Google Shape;448;p24"/>
          <p:cNvSpPr txBox="1"/>
          <p:nvPr/>
        </p:nvSpPr>
        <p:spPr>
          <a:xfrm>
            <a:off x="710125" y="39103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13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  <p:sp>
        <p:nvSpPr>
          <p:cNvPr id="449" name="Google Shape;449;p24"/>
          <p:cNvSpPr txBox="1"/>
          <p:nvPr/>
        </p:nvSpPr>
        <p:spPr>
          <a:xfrm>
            <a:off x="710125" y="4174050"/>
            <a:ext cx="429000" cy="2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707070"/>
                </a:solidFill>
                <a:latin typeface="Fira Code"/>
                <a:ea typeface="Fira Code"/>
                <a:cs typeface="Fira Code"/>
                <a:sym typeface="Fira Code"/>
              </a:rPr>
              <a:t>14</a:t>
            </a:r>
            <a:endParaRPr>
              <a:solidFill>
                <a:srgbClr val="707070"/>
              </a:solidFill>
              <a:latin typeface="Fira Code"/>
              <a:ea typeface="Fira Code"/>
              <a:cs typeface="Fira Code"/>
              <a:sym typeface="Fira Code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5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Fira Code"/>
              <a:buNone/>
              <a:defRPr sz="2800">
                <a:solidFill>
                  <a:schemeClr val="lt1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Code"/>
              <a:buNone/>
              <a:defRPr sz="2800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●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○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Fira Code"/>
              <a:buChar char="■"/>
              <a:defRPr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4" r:id="rId3"/>
    <p:sldLayoutId id="2147483655" r:id="rId4"/>
    <p:sldLayoutId id="2147483658" r:id="rId5"/>
    <p:sldLayoutId id="2147483665" r:id="rId6"/>
    <p:sldLayoutId id="2147483667" r:id="rId7"/>
    <p:sldLayoutId id="2147483668" r:id="rId8"/>
    <p:sldLayoutId id="2147483669" r:id="rId9"/>
    <p:sldLayoutId id="214748367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UQQsYXa1EHs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27"/>
          <p:cNvSpPr txBox="1">
            <a:spLocks noGrp="1"/>
          </p:cNvSpPr>
          <p:nvPr>
            <p:ph type="ctrTitle"/>
          </p:nvPr>
        </p:nvSpPr>
        <p:spPr>
          <a:xfrm>
            <a:off x="1413525" y="1144250"/>
            <a:ext cx="5788800" cy="517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{</a:t>
            </a:r>
          </a:p>
        </p:txBody>
      </p:sp>
      <p:sp>
        <p:nvSpPr>
          <p:cNvPr id="461" name="Google Shape;461;p27"/>
          <p:cNvSpPr txBox="1">
            <a:spLocks noGrp="1"/>
          </p:cNvSpPr>
          <p:nvPr>
            <p:ph type="subTitle" idx="2"/>
          </p:nvPr>
        </p:nvSpPr>
        <p:spPr>
          <a:xfrm>
            <a:off x="1666575" y="2307162"/>
            <a:ext cx="5788800" cy="46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/>
            <a:r>
              <a:rPr lang="en-US" dirty="0"/>
              <a:t>Regular Expressions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462" name="Google Shape;462;p27"/>
          <p:cNvGrpSpPr/>
          <p:nvPr/>
        </p:nvGrpSpPr>
        <p:grpSpPr>
          <a:xfrm>
            <a:off x="1413525" y="1759900"/>
            <a:ext cx="506100" cy="2444350"/>
            <a:chOff x="1413525" y="1759900"/>
            <a:chExt cx="506100" cy="2444350"/>
          </a:xfrm>
        </p:grpSpPr>
        <p:cxnSp>
          <p:nvCxnSpPr>
            <p:cNvPr id="463" name="Google Shape;463;p27"/>
            <p:cNvCxnSpPr/>
            <p:nvPr/>
          </p:nvCxnSpPr>
          <p:spPr>
            <a:xfrm>
              <a:off x="1552225" y="1759900"/>
              <a:ext cx="0" cy="17634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64" name="Google Shape;464;p27"/>
            <p:cNvSpPr txBox="1"/>
            <p:nvPr/>
          </p:nvSpPr>
          <p:spPr>
            <a:xfrm>
              <a:off x="1413525" y="3557750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3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3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31"/>
          <p:cNvSpPr txBox="1">
            <a:spLocks noGrp="1"/>
          </p:cNvSpPr>
          <p:nvPr>
            <p:ph type="subTitle" idx="2"/>
          </p:nvPr>
        </p:nvSpPr>
        <p:spPr>
          <a:xfrm>
            <a:off x="2311712" y="2181748"/>
            <a:ext cx="5137500" cy="7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Regular Expressions is a tool that allows us to search for spec</a:t>
            </a:r>
            <a:r>
              <a:rPr lang="en-US" dirty="0" err="1"/>
              <a:t>i</a:t>
            </a:r>
            <a:r>
              <a:rPr lang="en" dirty="0"/>
              <a:t>fic patterns in text </a:t>
            </a:r>
            <a:endParaRPr dirty="0"/>
          </a:p>
        </p:txBody>
      </p:sp>
      <p:sp>
        <p:nvSpPr>
          <p:cNvPr id="515" name="Google Shape;515;p31"/>
          <p:cNvSpPr txBox="1">
            <a:spLocks noGrp="1"/>
          </p:cNvSpPr>
          <p:nvPr>
            <p:ph type="title"/>
          </p:nvPr>
        </p:nvSpPr>
        <p:spPr>
          <a:xfrm>
            <a:off x="1190958" y="1594939"/>
            <a:ext cx="4057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Basic Concept </a:t>
            </a:r>
            <a:r>
              <a:rPr lang="en" dirty="0">
                <a:solidFill>
                  <a:schemeClr val="accent6"/>
                </a:solidFill>
              </a:rPr>
              <a:t>{</a:t>
            </a:r>
            <a:r>
              <a:rPr lang="en" dirty="0"/>
              <a:t> </a:t>
            </a:r>
            <a:endParaRPr dirty="0"/>
          </a:p>
        </p:txBody>
      </p:sp>
      <p:grpSp>
        <p:nvGrpSpPr>
          <p:cNvPr id="554" name="Google Shape;554;p31"/>
          <p:cNvGrpSpPr/>
          <p:nvPr/>
        </p:nvGrpSpPr>
        <p:grpSpPr>
          <a:xfrm>
            <a:off x="1132533" y="2181748"/>
            <a:ext cx="506100" cy="1366863"/>
            <a:chOff x="1084825" y="3203163"/>
            <a:chExt cx="506100" cy="1366863"/>
          </a:xfrm>
        </p:grpSpPr>
        <p:cxnSp>
          <p:nvCxnSpPr>
            <p:cNvPr id="555" name="Google Shape;555;p31"/>
            <p:cNvCxnSpPr/>
            <p:nvPr/>
          </p:nvCxnSpPr>
          <p:spPr>
            <a:xfrm>
              <a:off x="1337875" y="3203163"/>
              <a:ext cx="0" cy="7317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556" name="Google Shape;556;p31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 dirty="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 dirty="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sp>
        <p:nvSpPr>
          <p:cNvPr id="13" name="Subtitle 12">
            <a:extLst>
              <a:ext uri="{FF2B5EF4-FFF2-40B4-BE49-F238E27FC236}">
                <a16:creationId xmlns:a16="http://schemas.microsoft.com/office/drawing/2014/main" id="{A82FD6D9-A02D-CD4C-8A2B-EA754199F023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15" name="Subtitle 14">
            <a:extLst>
              <a:ext uri="{FF2B5EF4-FFF2-40B4-BE49-F238E27FC236}">
                <a16:creationId xmlns:a16="http://schemas.microsoft.com/office/drawing/2014/main" id="{56656FEE-8D11-C345-8371-50966A14451D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2"/>
          <p:cNvSpPr txBox="1">
            <a:spLocks noGrp="1"/>
          </p:cNvSpPr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Simple Example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562" name="Google Shape;562;p32"/>
          <p:cNvSpPr txBox="1">
            <a:spLocks noGrp="1"/>
          </p:cNvSpPr>
          <p:nvPr>
            <p:ph type="subTitle" idx="1"/>
          </p:nvPr>
        </p:nvSpPr>
        <p:spPr>
          <a:xfrm>
            <a:off x="1672862" y="1869475"/>
            <a:ext cx="5960379" cy="14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‘Saad Ate an Apple’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If the regex pattern is “Apple” it will match the string </a:t>
            </a:r>
          </a:p>
        </p:txBody>
      </p:sp>
      <p:grpSp>
        <p:nvGrpSpPr>
          <p:cNvPr id="563" name="Google Shape;563;p32"/>
          <p:cNvGrpSpPr/>
          <p:nvPr/>
        </p:nvGrpSpPr>
        <p:grpSpPr>
          <a:xfrm>
            <a:off x="1084825" y="1168950"/>
            <a:ext cx="506100" cy="3431975"/>
            <a:chOff x="1084825" y="1168950"/>
            <a:chExt cx="506100" cy="3431975"/>
          </a:xfrm>
        </p:grpSpPr>
        <p:sp>
          <p:nvSpPr>
            <p:cNvPr id="564" name="Google Shape;564;p32"/>
            <p:cNvSpPr txBox="1"/>
            <p:nvPr/>
          </p:nvSpPr>
          <p:spPr>
            <a:xfrm>
              <a:off x="1084825" y="3954425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65" name="Google Shape;565;p32"/>
            <p:cNvCxnSpPr/>
            <p:nvPr/>
          </p:nvCxnSpPr>
          <p:spPr>
            <a:xfrm>
              <a:off x="1337875" y="1168950"/>
              <a:ext cx="0" cy="27672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" name="Subtitle 9">
            <a:extLst>
              <a:ext uri="{FF2B5EF4-FFF2-40B4-BE49-F238E27FC236}">
                <a16:creationId xmlns:a16="http://schemas.microsoft.com/office/drawing/2014/main" id="{99EFDB65-86B2-0F4A-BA7D-F767936D04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12" name="Subtitle 11">
            <a:extLst>
              <a:ext uri="{FF2B5EF4-FFF2-40B4-BE49-F238E27FC236}">
                <a16:creationId xmlns:a16="http://schemas.microsoft.com/office/drawing/2014/main" id="{FADAB1D3-4F17-5B41-BEAB-2D0929BA16E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14" name="Subtitle 13">
            <a:extLst>
              <a:ext uri="{FF2B5EF4-FFF2-40B4-BE49-F238E27FC236}">
                <a16:creationId xmlns:a16="http://schemas.microsoft.com/office/drawing/2014/main" id="{BF645DD7-9B1B-5543-AE3B-E8E55158A4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2280025" y="1299450"/>
            <a:ext cx="6080723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C</a:t>
            </a:r>
            <a:r>
              <a:rPr lang="en" dirty="0" err="1">
                <a:solidFill>
                  <a:schemeClr val="accent3"/>
                </a:solidFill>
              </a:rPr>
              <a:t>haracter</a:t>
            </a:r>
            <a:r>
              <a:rPr lang="en" dirty="0">
                <a:solidFill>
                  <a:schemeClr val="accent3"/>
                </a:solidFill>
              </a:rPr>
              <a:t> class: [A-Z] or [0-9]</a:t>
            </a:r>
          </a:p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I</a:t>
            </a:r>
            <a:r>
              <a:rPr lang="en" dirty="0">
                <a:solidFill>
                  <a:schemeClr val="accent3"/>
                </a:solidFill>
              </a:rPr>
              <a:t>t can be multiple classes at once: [A-Z0-9]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Meta Characters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1590925" y="1399873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[ ]</a:t>
            </a:r>
            <a:endParaRPr dirty="0"/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" name="Google Shape;782;p37">
            <a:extLst>
              <a:ext uri="{FF2B5EF4-FFF2-40B4-BE49-F238E27FC236}">
                <a16:creationId xmlns:a16="http://schemas.microsoft.com/office/drawing/2014/main" id="{EDD49C9A-C71E-EC4D-9515-932EE25FD4AD}"/>
              </a:ext>
            </a:extLst>
          </p:cNvPr>
          <p:cNvSpPr txBox="1">
            <a:spLocks/>
          </p:cNvSpPr>
          <p:nvPr/>
        </p:nvSpPr>
        <p:spPr>
          <a:xfrm>
            <a:off x="2280025" y="2195850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for grouping to use with other meta characters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For example: ^(+966)512345678</a:t>
            </a:r>
          </a:p>
        </p:txBody>
      </p:sp>
      <p:sp>
        <p:nvSpPr>
          <p:cNvPr id="19" name="Google Shape;784;p37">
            <a:extLst>
              <a:ext uri="{FF2B5EF4-FFF2-40B4-BE49-F238E27FC236}">
                <a16:creationId xmlns:a16="http://schemas.microsoft.com/office/drawing/2014/main" id="{E90289AC-2E24-FF4D-A953-D3C7098B5B67}"/>
              </a:ext>
            </a:extLst>
          </p:cNvPr>
          <p:cNvSpPr txBox="1">
            <a:spLocks/>
          </p:cNvSpPr>
          <p:nvPr/>
        </p:nvSpPr>
        <p:spPr>
          <a:xfrm flipH="1">
            <a:off x="1590925" y="2317807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( )</a:t>
            </a:r>
          </a:p>
        </p:txBody>
      </p:sp>
      <p:sp>
        <p:nvSpPr>
          <p:cNvPr id="20" name="Google Shape;782;p37">
            <a:extLst>
              <a:ext uri="{FF2B5EF4-FFF2-40B4-BE49-F238E27FC236}">
                <a16:creationId xmlns:a16="http://schemas.microsoft.com/office/drawing/2014/main" id="{255BC503-894F-E24C-80B2-70FCDA0908EE}"/>
              </a:ext>
            </a:extLst>
          </p:cNvPr>
          <p:cNvSpPr txBox="1">
            <a:spLocks/>
          </p:cNvSpPr>
          <p:nvPr/>
        </p:nvSpPr>
        <p:spPr>
          <a:xfrm>
            <a:off x="2280025" y="3155620"/>
            <a:ext cx="4694400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Matches anything except newline</a:t>
            </a:r>
          </a:p>
        </p:txBody>
      </p:sp>
      <p:sp>
        <p:nvSpPr>
          <p:cNvPr id="21" name="Google Shape;784;p37">
            <a:extLst>
              <a:ext uri="{FF2B5EF4-FFF2-40B4-BE49-F238E27FC236}">
                <a16:creationId xmlns:a16="http://schemas.microsoft.com/office/drawing/2014/main" id="{8CD18A5B-6665-9E42-9A65-04B65DD8C205}"/>
              </a:ext>
            </a:extLst>
          </p:cNvPr>
          <p:cNvSpPr txBox="1">
            <a:spLocks/>
          </p:cNvSpPr>
          <p:nvPr/>
        </p:nvSpPr>
        <p:spPr>
          <a:xfrm flipH="1">
            <a:off x="1672525" y="3236376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.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A7547F54-5B78-A249-A7D5-652AD9C03EB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9B5B499D-1D45-EA43-9C3E-3C40825ACFF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25B77C7D-58AB-CE40-866C-BAC2211D8B77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Meta Characters: Backslash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" name="Google Shape;782;p37">
            <a:extLst>
              <a:ext uri="{FF2B5EF4-FFF2-40B4-BE49-F238E27FC236}">
                <a16:creationId xmlns:a16="http://schemas.microsoft.com/office/drawing/2014/main" id="{EDD49C9A-C71E-EC4D-9515-932EE25FD4AD}"/>
              </a:ext>
            </a:extLst>
          </p:cNvPr>
          <p:cNvSpPr txBox="1">
            <a:spLocks/>
          </p:cNvSpPr>
          <p:nvPr/>
        </p:nvSpPr>
        <p:spPr>
          <a:xfrm>
            <a:off x="2198425" y="1188113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Escapes Meta Characters inside character classes: “\[“ will match a literal “[“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Can be used to call special sequences</a:t>
            </a:r>
          </a:p>
        </p:txBody>
      </p:sp>
      <p:sp>
        <p:nvSpPr>
          <p:cNvPr id="19" name="Google Shape;784;p37">
            <a:extLst>
              <a:ext uri="{FF2B5EF4-FFF2-40B4-BE49-F238E27FC236}">
                <a16:creationId xmlns:a16="http://schemas.microsoft.com/office/drawing/2014/main" id="{E90289AC-2E24-FF4D-A953-D3C7098B5B67}"/>
              </a:ext>
            </a:extLst>
          </p:cNvPr>
          <p:cNvSpPr txBox="1">
            <a:spLocks/>
          </p:cNvSpPr>
          <p:nvPr/>
        </p:nvSpPr>
        <p:spPr>
          <a:xfrm flipH="1">
            <a:off x="1590925" y="1204656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\</a:t>
            </a:r>
          </a:p>
        </p:txBody>
      </p:sp>
      <p:sp>
        <p:nvSpPr>
          <p:cNvPr id="20" name="Google Shape;782;p37">
            <a:extLst>
              <a:ext uri="{FF2B5EF4-FFF2-40B4-BE49-F238E27FC236}">
                <a16:creationId xmlns:a16="http://schemas.microsoft.com/office/drawing/2014/main" id="{255BC503-894F-E24C-80B2-70FCDA0908EE}"/>
              </a:ext>
            </a:extLst>
          </p:cNvPr>
          <p:cNvSpPr txBox="1">
            <a:spLocks/>
          </p:cNvSpPr>
          <p:nvPr/>
        </p:nvSpPr>
        <p:spPr>
          <a:xfrm>
            <a:off x="1459006" y="2004126"/>
            <a:ext cx="7469842" cy="19038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Special Sequences: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\d matches all digits [0-9]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\w matches letters, digits and underscore [A-Za-z0-9_]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\s matches space, tab and newline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\b matches word boundary (the start of a word or the end of it)</a:t>
            </a:r>
          </a:p>
          <a:p>
            <a:pPr marL="341342" indent="-265184"/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21" name="Google Shape;784;p37">
            <a:extLst>
              <a:ext uri="{FF2B5EF4-FFF2-40B4-BE49-F238E27FC236}">
                <a16:creationId xmlns:a16="http://schemas.microsoft.com/office/drawing/2014/main" id="{8CD18A5B-6665-9E42-9A65-04B65DD8C205}"/>
              </a:ext>
            </a:extLst>
          </p:cNvPr>
          <p:cNvSpPr txBox="1">
            <a:spLocks/>
          </p:cNvSpPr>
          <p:nvPr/>
        </p:nvSpPr>
        <p:spPr>
          <a:xfrm flipH="1">
            <a:off x="1672525" y="3236376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endParaRPr lang="en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A7547F54-5B78-A249-A7D5-652AD9C03EB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9B5B499D-1D45-EA43-9C3E-3C40825ACFF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00778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2157703" y="1583408"/>
            <a:ext cx="6909365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Used to specify the start of a pattern: ^+966 any string that starts with +966</a:t>
            </a:r>
          </a:p>
          <a:p>
            <a:pPr marL="76158" lvl="0" indent="0" algn="l" rtl="0">
              <a:spcBef>
                <a:spcPts val="0"/>
              </a:spcBef>
              <a:spcAft>
                <a:spcPts val="0"/>
              </a:spcAft>
              <a:buSzPts val="1200"/>
              <a:buNone/>
            </a:pPr>
            <a:endParaRPr lang="en" dirty="0">
              <a:solidFill>
                <a:schemeClr val="accent3"/>
              </a:solidFill>
            </a:endParaRPr>
          </a:p>
          <a:p>
            <a:pPr marL="341342" lvl="0" indent="-265184" algn="l" rtl="0">
              <a:spcBef>
                <a:spcPts val="0"/>
              </a:spcBef>
              <a:spcAft>
                <a:spcPts val="0"/>
              </a:spcAft>
              <a:buSzPts val="1200"/>
              <a:buChar char="∗"/>
            </a:pPr>
            <a:r>
              <a:rPr lang="en-US" dirty="0">
                <a:solidFill>
                  <a:schemeClr val="accent3"/>
                </a:solidFill>
              </a:rPr>
              <a:t>If used at the start of a character class it negate the class: [^0-9] anything except numbers 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Meta Characters: anchors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1468603" y="1683831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^</a:t>
            </a:r>
            <a:endParaRPr dirty="0"/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" name="Google Shape;782;p37">
            <a:extLst>
              <a:ext uri="{FF2B5EF4-FFF2-40B4-BE49-F238E27FC236}">
                <a16:creationId xmlns:a16="http://schemas.microsoft.com/office/drawing/2014/main" id="{EDD49C9A-C71E-EC4D-9515-932EE25FD4AD}"/>
              </a:ext>
            </a:extLst>
          </p:cNvPr>
          <p:cNvSpPr txBox="1">
            <a:spLocks/>
          </p:cNvSpPr>
          <p:nvPr/>
        </p:nvSpPr>
        <p:spPr>
          <a:xfrm>
            <a:off x="2076103" y="2974558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to specify the end of a pattern: \.com$ will match any string that ends with the word .com</a:t>
            </a:r>
          </a:p>
        </p:txBody>
      </p:sp>
      <p:sp>
        <p:nvSpPr>
          <p:cNvPr id="19" name="Google Shape;784;p37">
            <a:extLst>
              <a:ext uri="{FF2B5EF4-FFF2-40B4-BE49-F238E27FC236}">
                <a16:creationId xmlns:a16="http://schemas.microsoft.com/office/drawing/2014/main" id="{E90289AC-2E24-FF4D-A953-D3C7098B5B67}"/>
              </a:ext>
            </a:extLst>
          </p:cNvPr>
          <p:cNvSpPr txBox="1">
            <a:spLocks/>
          </p:cNvSpPr>
          <p:nvPr/>
        </p:nvSpPr>
        <p:spPr>
          <a:xfrm flipH="1">
            <a:off x="1468603" y="3087930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$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E1DAE4-965F-0742-BBB7-6AEB7A75AE20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E27FC34-01D1-DA47-93E8-127CA629DD02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DE95E003-60C8-6B48-A9EF-515669402E93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13923857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2" name="Google Shape;782;p37"/>
          <p:cNvSpPr txBox="1">
            <a:spLocks noGrp="1"/>
          </p:cNvSpPr>
          <p:nvPr>
            <p:ph type="body" idx="1"/>
          </p:nvPr>
        </p:nvSpPr>
        <p:spPr>
          <a:xfrm>
            <a:off x="2096115" y="1381136"/>
            <a:ext cx="6436042" cy="75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341342" lvl="0" indent="-265184"/>
            <a:r>
              <a:rPr lang="en-US" dirty="0">
                <a:solidFill>
                  <a:schemeClr val="accent3"/>
                </a:solidFill>
              </a:rPr>
              <a:t>Used to specify an exact number of occurrences: a{2} will match only if a is repeated 2 times like in </a:t>
            </a:r>
            <a:r>
              <a:rPr lang="en-US" dirty="0" err="1">
                <a:solidFill>
                  <a:schemeClr val="accent3"/>
                </a:solidFill>
              </a:rPr>
              <a:t>saad</a:t>
            </a:r>
            <a:endParaRPr dirty="0">
              <a:solidFill>
                <a:schemeClr val="accent3"/>
              </a:solidFill>
            </a:endParaRPr>
          </a:p>
        </p:txBody>
      </p:sp>
      <p:sp>
        <p:nvSpPr>
          <p:cNvPr id="783" name="Google Shape;783;p37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Meta Characters: Quantifiers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784" name="Google Shape;784;p37"/>
          <p:cNvSpPr txBox="1">
            <a:spLocks noGrp="1"/>
          </p:cNvSpPr>
          <p:nvPr>
            <p:ph type="title" idx="2"/>
          </p:nvPr>
        </p:nvSpPr>
        <p:spPr>
          <a:xfrm flipH="1">
            <a:off x="1407015" y="1481559"/>
            <a:ext cx="1215000" cy="46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{ }</a:t>
            </a:r>
            <a:endParaRPr dirty="0"/>
          </a:p>
        </p:txBody>
      </p:sp>
      <p:grpSp>
        <p:nvGrpSpPr>
          <p:cNvPr id="791" name="Google Shape;791;p37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792" name="Google Shape;792;p37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793" name="Google Shape;793;p37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8" name="Google Shape;782;p37">
            <a:extLst>
              <a:ext uri="{FF2B5EF4-FFF2-40B4-BE49-F238E27FC236}">
                <a16:creationId xmlns:a16="http://schemas.microsoft.com/office/drawing/2014/main" id="{EDD49C9A-C71E-EC4D-9515-932EE25FD4AD}"/>
              </a:ext>
            </a:extLst>
          </p:cNvPr>
          <p:cNvSpPr txBox="1">
            <a:spLocks/>
          </p:cNvSpPr>
          <p:nvPr/>
        </p:nvSpPr>
        <p:spPr>
          <a:xfrm>
            <a:off x="2096115" y="2170741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to specify 0 or more occurrences: 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a* will match </a:t>
            </a:r>
            <a:r>
              <a:rPr lang="en-US" dirty="0" err="1">
                <a:solidFill>
                  <a:schemeClr val="accent3"/>
                </a:solidFill>
              </a:rPr>
              <a:t>sd</a:t>
            </a:r>
            <a:r>
              <a:rPr lang="en-US" dirty="0">
                <a:solidFill>
                  <a:schemeClr val="accent3"/>
                </a:solidFill>
              </a:rPr>
              <a:t> sad </a:t>
            </a:r>
            <a:r>
              <a:rPr lang="en-US" dirty="0" err="1">
                <a:solidFill>
                  <a:schemeClr val="accent3"/>
                </a:solidFill>
              </a:rPr>
              <a:t>saad</a:t>
            </a:r>
            <a:r>
              <a:rPr lang="en-US" dirty="0">
                <a:solidFill>
                  <a:schemeClr val="accent3"/>
                </a:solidFill>
              </a:rPr>
              <a:t> …</a:t>
            </a:r>
            <a:r>
              <a:rPr lang="en-US" dirty="0" err="1">
                <a:solidFill>
                  <a:schemeClr val="accent3"/>
                </a:solidFill>
              </a:rPr>
              <a:t>etc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19" name="Google Shape;784;p37">
            <a:extLst>
              <a:ext uri="{FF2B5EF4-FFF2-40B4-BE49-F238E27FC236}">
                <a16:creationId xmlns:a16="http://schemas.microsoft.com/office/drawing/2014/main" id="{E90289AC-2E24-FF4D-A953-D3C7098B5B67}"/>
              </a:ext>
            </a:extLst>
          </p:cNvPr>
          <p:cNvSpPr txBox="1">
            <a:spLocks/>
          </p:cNvSpPr>
          <p:nvPr/>
        </p:nvSpPr>
        <p:spPr>
          <a:xfrm flipH="1">
            <a:off x="1488615" y="2284113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*</a:t>
            </a:r>
          </a:p>
        </p:txBody>
      </p:sp>
      <p:sp>
        <p:nvSpPr>
          <p:cNvPr id="15" name="Google Shape;782;p37">
            <a:extLst>
              <a:ext uri="{FF2B5EF4-FFF2-40B4-BE49-F238E27FC236}">
                <a16:creationId xmlns:a16="http://schemas.microsoft.com/office/drawing/2014/main" id="{AF307344-F286-6D43-BB6A-19EA6280B888}"/>
              </a:ext>
            </a:extLst>
          </p:cNvPr>
          <p:cNvSpPr txBox="1">
            <a:spLocks/>
          </p:cNvSpPr>
          <p:nvPr/>
        </p:nvSpPr>
        <p:spPr>
          <a:xfrm>
            <a:off x="2096115" y="2846930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to specify 1 or more occurrences: 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a+ will match only sad </a:t>
            </a:r>
            <a:r>
              <a:rPr lang="en-US" dirty="0" err="1">
                <a:solidFill>
                  <a:schemeClr val="accent3"/>
                </a:solidFill>
              </a:rPr>
              <a:t>saad</a:t>
            </a:r>
            <a:r>
              <a:rPr lang="en-US" dirty="0">
                <a:solidFill>
                  <a:schemeClr val="accent3"/>
                </a:solidFill>
              </a:rPr>
              <a:t> </a:t>
            </a:r>
            <a:r>
              <a:rPr lang="en-US" dirty="0" err="1">
                <a:solidFill>
                  <a:schemeClr val="accent3"/>
                </a:solidFill>
              </a:rPr>
              <a:t>saaad</a:t>
            </a:r>
            <a:r>
              <a:rPr lang="en-US" dirty="0">
                <a:solidFill>
                  <a:schemeClr val="accent3"/>
                </a:solidFill>
              </a:rPr>
              <a:t> …</a:t>
            </a:r>
            <a:r>
              <a:rPr lang="en-US" dirty="0" err="1">
                <a:solidFill>
                  <a:schemeClr val="accent3"/>
                </a:solidFill>
              </a:rPr>
              <a:t>etc</a:t>
            </a:r>
            <a:endParaRPr lang="en-US" dirty="0">
              <a:solidFill>
                <a:schemeClr val="accent3"/>
              </a:solidFill>
            </a:endParaRPr>
          </a:p>
        </p:txBody>
      </p:sp>
      <p:sp>
        <p:nvSpPr>
          <p:cNvPr id="16" name="Google Shape;784;p37">
            <a:extLst>
              <a:ext uri="{FF2B5EF4-FFF2-40B4-BE49-F238E27FC236}">
                <a16:creationId xmlns:a16="http://schemas.microsoft.com/office/drawing/2014/main" id="{640A8E85-B2F8-8242-8E47-D16A64A437B6}"/>
              </a:ext>
            </a:extLst>
          </p:cNvPr>
          <p:cNvSpPr txBox="1">
            <a:spLocks/>
          </p:cNvSpPr>
          <p:nvPr/>
        </p:nvSpPr>
        <p:spPr>
          <a:xfrm flipH="1">
            <a:off x="1488615" y="2960302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+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FA94A9-44D2-A049-8E1B-BEF924491B1F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13305837-7328-A747-8CFB-2AD0BA3309EC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F276A64F-ABCC-2E47-A0A8-AD6745502859}"/>
              </a:ext>
            </a:extLst>
          </p:cNvPr>
          <p:cNvSpPr>
            <a:spLocks noGrp="1"/>
          </p:cNvSpPr>
          <p:nvPr>
            <p:ph type="subTitle" idx="5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17" name="Google Shape;784;p37">
            <a:extLst>
              <a:ext uri="{FF2B5EF4-FFF2-40B4-BE49-F238E27FC236}">
                <a16:creationId xmlns:a16="http://schemas.microsoft.com/office/drawing/2014/main" id="{C7B3E918-2305-F44A-AB23-E3BC7086F311}"/>
              </a:ext>
            </a:extLst>
          </p:cNvPr>
          <p:cNvSpPr txBox="1">
            <a:spLocks/>
          </p:cNvSpPr>
          <p:nvPr/>
        </p:nvSpPr>
        <p:spPr>
          <a:xfrm flipH="1">
            <a:off x="1486656" y="3535974"/>
            <a:ext cx="1215000" cy="4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Font typeface="Fira Code"/>
              <a:buNone/>
              <a:defRPr sz="2000" b="0" i="0" u="none" strike="noStrike" cap="none">
                <a:solidFill>
                  <a:schemeClr val="accent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R="0"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R="0"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R="0"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R="0"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R="0"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R="0"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R="0"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R="0"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Fira Code"/>
              <a:buNone/>
              <a:defRPr sz="2500" b="0" i="0" u="none" strike="noStrike" cap="none">
                <a:solidFill>
                  <a:schemeClr val="dk1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r>
              <a:rPr lang="en" dirty="0"/>
              <a:t>?</a:t>
            </a:r>
          </a:p>
        </p:txBody>
      </p:sp>
      <p:sp>
        <p:nvSpPr>
          <p:cNvPr id="21" name="Google Shape;782;p37">
            <a:extLst>
              <a:ext uri="{FF2B5EF4-FFF2-40B4-BE49-F238E27FC236}">
                <a16:creationId xmlns:a16="http://schemas.microsoft.com/office/drawing/2014/main" id="{F2AB14EF-9D69-5F47-9966-CBF7821FA465}"/>
              </a:ext>
            </a:extLst>
          </p:cNvPr>
          <p:cNvSpPr txBox="1">
            <a:spLocks/>
          </p:cNvSpPr>
          <p:nvPr/>
        </p:nvSpPr>
        <p:spPr>
          <a:xfrm>
            <a:off x="2096115" y="3436719"/>
            <a:ext cx="6998244" cy="7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Fira Code"/>
              <a:buChar char="∗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●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○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Montserrat"/>
              <a:buChar char="■"/>
              <a:defRPr sz="1400" b="0" i="0" u="none" strike="noStrike" cap="none">
                <a:solidFill>
                  <a:schemeClr val="dk2"/>
                </a:solidFill>
                <a:latin typeface="Fira Code"/>
                <a:ea typeface="Fira Code"/>
                <a:cs typeface="Fira Code"/>
                <a:sym typeface="Fira Code"/>
              </a:defRPr>
            </a:lvl9pPr>
          </a:lstStyle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Used to specify 1 or 0 occurrences:</a:t>
            </a:r>
          </a:p>
          <a:p>
            <a:pPr marL="341342" indent="-265184"/>
            <a:r>
              <a:rPr lang="en-US" dirty="0">
                <a:solidFill>
                  <a:schemeClr val="accent3"/>
                </a:solidFill>
              </a:rPr>
              <a:t>(+966)?0?512345678 means that the +966 and 0 are optional</a:t>
            </a:r>
          </a:p>
        </p:txBody>
      </p:sp>
    </p:spTree>
    <p:extLst>
      <p:ext uri="{BB962C8B-B14F-4D97-AF65-F5344CB8AC3E}">
        <p14:creationId xmlns:p14="http://schemas.microsoft.com/office/powerpoint/2010/main" val="391894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32"/>
          <p:cNvSpPr txBox="1">
            <a:spLocks noGrp="1"/>
          </p:cNvSpPr>
          <p:nvPr>
            <p:ph type="title"/>
          </p:nvPr>
        </p:nvSpPr>
        <p:spPr>
          <a:xfrm>
            <a:off x="1131500" y="621250"/>
            <a:ext cx="4045200" cy="53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Example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562" name="Google Shape;562;p32"/>
          <p:cNvSpPr txBox="1">
            <a:spLocks noGrp="1"/>
          </p:cNvSpPr>
          <p:nvPr>
            <p:ph type="subTitle" idx="1"/>
          </p:nvPr>
        </p:nvSpPr>
        <p:spPr>
          <a:xfrm>
            <a:off x="1672862" y="1869475"/>
            <a:ext cx="5960379" cy="1404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‘Saad email is </a:t>
            </a:r>
            <a:r>
              <a:rPr lang="en" dirty="0" err="1">
                <a:solidFill>
                  <a:schemeClr val="accent2"/>
                </a:solidFill>
              </a:rPr>
              <a:t>saadgh@gmail.com</a:t>
            </a:r>
            <a:r>
              <a:rPr lang="en" dirty="0">
                <a:solidFill>
                  <a:schemeClr val="accent2"/>
                </a:solidFill>
              </a:rPr>
              <a:t>’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>
              <a:solidFill>
                <a:schemeClr val="accent2"/>
              </a:solidFill>
            </a:endParaRPr>
          </a:p>
          <a:p>
            <a:pPr marL="0" indent="0"/>
            <a:r>
              <a:rPr lang="en-US" dirty="0">
                <a:solidFill>
                  <a:schemeClr val="accent3"/>
                </a:solidFill>
              </a:rPr>
              <a:t>Pattern = </a:t>
            </a:r>
            <a:r>
              <a:rPr lang="en-US" dirty="0"/>
              <a:t>[A-Za-z0-9_.]+@[a-z]+\.com$</a:t>
            </a:r>
          </a:p>
        </p:txBody>
      </p:sp>
      <p:grpSp>
        <p:nvGrpSpPr>
          <p:cNvPr id="563" name="Google Shape;563;p32"/>
          <p:cNvGrpSpPr/>
          <p:nvPr/>
        </p:nvGrpSpPr>
        <p:grpSpPr>
          <a:xfrm>
            <a:off x="1084825" y="1168950"/>
            <a:ext cx="506100" cy="3431975"/>
            <a:chOff x="1084825" y="1168950"/>
            <a:chExt cx="506100" cy="3431975"/>
          </a:xfrm>
        </p:grpSpPr>
        <p:sp>
          <p:nvSpPr>
            <p:cNvPr id="564" name="Google Shape;564;p32"/>
            <p:cNvSpPr txBox="1"/>
            <p:nvPr/>
          </p:nvSpPr>
          <p:spPr>
            <a:xfrm>
              <a:off x="1084825" y="3954425"/>
              <a:ext cx="5061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30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30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565" name="Google Shape;565;p32"/>
            <p:cNvCxnSpPr/>
            <p:nvPr/>
          </p:nvCxnSpPr>
          <p:spPr>
            <a:xfrm>
              <a:off x="1337875" y="1168950"/>
              <a:ext cx="0" cy="27672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5EC4D50D-C3E0-B342-8D73-FA0D4ECE61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6E6C6E8F-1594-4E4A-B249-9D2F45251B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A" dirty="0"/>
              <a:t>\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918773FF-A92C-7241-A0F5-4A65B934600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SA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3438153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p40"/>
          <p:cNvSpPr txBox="1">
            <a:spLocks noGrp="1"/>
          </p:cNvSpPr>
          <p:nvPr>
            <p:ph type="title"/>
          </p:nvPr>
        </p:nvSpPr>
        <p:spPr>
          <a:xfrm>
            <a:off x="1329447" y="1194149"/>
            <a:ext cx="5625203" cy="208082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 dirty="0"/>
              <a:t>Practical Examples</a:t>
            </a:r>
            <a:endParaRPr sz="5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8" name="Google Shape;3128;p52"/>
          <p:cNvSpPr txBox="1">
            <a:spLocks noGrp="1"/>
          </p:cNvSpPr>
          <p:nvPr>
            <p:ph type="title"/>
          </p:nvPr>
        </p:nvSpPr>
        <p:spPr>
          <a:xfrm>
            <a:off x="1143250" y="582700"/>
            <a:ext cx="72906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Resources</a:t>
            </a:r>
            <a:r>
              <a:rPr lang="en" dirty="0">
                <a:solidFill>
                  <a:schemeClr val="accent2"/>
                </a:solidFill>
              </a:rPr>
              <a:t> </a:t>
            </a:r>
            <a:r>
              <a:rPr lang="en" dirty="0">
                <a:solidFill>
                  <a:schemeClr val="accent6"/>
                </a:solidFill>
              </a:rPr>
              <a:t>{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3129" name="Google Shape;3129;p52"/>
          <p:cNvSpPr txBox="1">
            <a:spLocks noGrp="1"/>
          </p:cNvSpPr>
          <p:nvPr>
            <p:ph type="body" idx="1"/>
          </p:nvPr>
        </p:nvSpPr>
        <p:spPr>
          <a:xfrm>
            <a:off x="1590925" y="1263720"/>
            <a:ext cx="7241521" cy="210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2"/>
                </a:solidFill>
              </a:rPr>
              <a:t>Documentation:</a:t>
            </a:r>
            <a:endParaRPr dirty="0">
              <a:solidFill>
                <a:schemeClr val="accent2"/>
              </a:solidFill>
            </a:endParaRPr>
          </a:p>
          <a:p>
            <a:pPr lvl="0">
              <a:spcBef>
                <a:spcPts val="1200"/>
              </a:spcBef>
            </a:pPr>
            <a:r>
              <a:rPr lang="en-US" sz="1400" dirty="0">
                <a:uFill>
                  <a:noFill/>
                </a:uFill>
              </a:rPr>
              <a:t>https://</a:t>
            </a:r>
            <a:r>
              <a:rPr lang="en-US" sz="1400" dirty="0" err="1">
                <a:uFill>
                  <a:noFill/>
                </a:uFill>
              </a:rPr>
              <a:t>docs.python.org</a:t>
            </a:r>
            <a:r>
              <a:rPr lang="en-US" sz="1400" dirty="0">
                <a:uFill>
                  <a:noFill/>
                </a:uFill>
              </a:rPr>
              <a:t>/3/</a:t>
            </a:r>
            <a:r>
              <a:rPr lang="en-US" sz="1400" dirty="0" err="1">
                <a:uFill>
                  <a:noFill/>
                </a:uFill>
              </a:rPr>
              <a:t>howto</a:t>
            </a:r>
            <a:r>
              <a:rPr lang="en-US" sz="1400" dirty="0">
                <a:uFill>
                  <a:noFill/>
                </a:uFill>
              </a:rPr>
              <a:t>/</a:t>
            </a:r>
            <a:r>
              <a:rPr lang="en-US" sz="1400" dirty="0" err="1">
                <a:uFill>
                  <a:noFill/>
                </a:uFill>
              </a:rPr>
              <a:t>regex.html#splitting-strings</a:t>
            </a:r>
            <a:r>
              <a:rPr lang="en-US" sz="1400" dirty="0">
                <a:uFill>
                  <a:noFill/>
                </a:uFill>
              </a:rPr>
              <a:t> </a:t>
            </a:r>
          </a:p>
          <a:p>
            <a:pPr lvl="0">
              <a:spcBef>
                <a:spcPts val="1200"/>
              </a:spcBef>
            </a:pPr>
            <a:r>
              <a:rPr lang="en-US" sz="1400" dirty="0">
                <a:uFill>
                  <a:noFill/>
                </a:uFill>
              </a:rPr>
              <a:t>https://</a:t>
            </a:r>
            <a:r>
              <a:rPr lang="en-US" sz="1400" dirty="0" err="1">
                <a:uFill>
                  <a:noFill/>
                </a:uFill>
              </a:rPr>
              <a:t>docs.python.org</a:t>
            </a:r>
            <a:r>
              <a:rPr lang="en-US" sz="1400" dirty="0">
                <a:uFill>
                  <a:noFill/>
                </a:uFill>
              </a:rPr>
              <a:t>/3/library/</a:t>
            </a:r>
            <a:r>
              <a:rPr lang="en-US" sz="1400" dirty="0" err="1">
                <a:uFill>
                  <a:noFill/>
                </a:uFill>
              </a:rPr>
              <a:t>re.html#text-munging</a:t>
            </a:r>
            <a:r>
              <a:rPr lang="en-US" sz="1400" dirty="0">
                <a:uFill>
                  <a:noFill/>
                </a:uFill>
              </a:rPr>
              <a:t> </a:t>
            </a:r>
          </a:p>
          <a:p>
            <a:pPr lvl="0">
              <a:spcBef>
                <a:spcPts val="1200"/>
              </a:spcBef>
            </a:pPr>
            <a:endParaRPr lang="en-US" sz="1400" dirty="0">
              <a:uFill>
                <a:noFill/>
              </a:uFill>
            </a:endParaRPr>
          </a:p>
          <a:p>
            <a:pPr marL="139700" lvl="0" indent="0">
              <a:spcBef>
                <a:spcPts val="1200"/>
              </a:spcBef>
              <a:buNone/>
            </a:pPr>
            <a:r>
              <a:rPr lang="en" dirty="0" err="1">
                <a:solidFill>
                  <a:schemeClr val="accent1"/>
                </a:solidFill>
              </a:rPr>
              <a:t>Youtube</a:t>
            </a:r>
            <a:r>
              <a:rPr lang="en" dirty="0">
                <a:solidFill>
                  <a:schemeClr val="accent1"/>
                </a:solidFill>
              </a:rPr>
              <a:t> Videos:</a:t>
            </a:r>
          </a:p>
          <a:p>
            <a:pPr lvl="0">
              <a:spcBef>
                <a:spcPts val="1200"/>
              </a:spcBef>
            </a:pPr>
            <a:r>
              <a:rPr lang="en-US" sz="1400" dirty="0">
                <a:solidFill>
                  <a:schemeClr val="bg1"/>
                </a:solidFill>
                <a:uFill>
                  <a:noFill/>
                </a:u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https://www.youtube.com/watch?v=UQQsYXa1EHs</a:t>
            </a:r>
            <a:endParaRPr lang="en-US" sz="1400" dirty="0">
              <a:solidFill>
                <a:schemeClr val="bg1"/>
              </a:solidFill>
              <a:uFill>
                <a:noFill/>
              </a:uFill>
            </a:endParaRPr>
          </a:p>
          <a:p>
            <a:pPr lvl="0">
              <a:spcBef>
                <a:spcPts val="1200"/>
              </a:spcBef>
            </a:pPr>
            <a:r>
              <a:rPr lang="en-US" sz="1400" dirty="0">
                <a:solidFill>
                  <a:schemeClr val="bg1"/>
                </a:solidFill>
                <a:uFill>
                  <a:noFill/>
                </a:uFill>
              </a:rPr>
              <a:t>https://</a:t>
            </a:r>
            <a:r>
              <a:rPr lang="en-US" sz="1400" dirty="0" err="1">
                <a:solidFill>
                  <a:schemeClr val="bg1"/>
                </a:solidFill>
                <a:uFill>
                  <a:noFill/>
                </a:uFill>
              </a:rPr>
              <a:t>www.youtube.com</a:t>
            </a:r>
            <a:r>
              <a:rPr lang="en-US" sz="1400" dirty="0">
                <a:solidFill>
                  <a:schemeClr val="bg1"/>
                </a:solidFill>
                <a:uFill>
                  <a:noFill/>
                </a:uFill>
              </a:rPr>
              <a:t>/</a:t>
            </a:r>
            <a:r>
              <a:rPr lang="en-US" sz="1400" dirty="0" err="1">
                <a:solidFill>
                  <a:schemeClr val="bg1"/>
                </a:solidFill>
                <a:uFill>
                  <a:noFill/>
                </a:uFill>
              </a:rPr>
              <a:t>watch?v</a:t>
            </a:r>
            <a:r>
              <a:rPr lang="en-US" sz="1400" dirty="0">
                <a:solidFill>
                  <a:schemeClr val="bg1"/>
                </a:solidFill>
                <a:uFill>
                  <a:noFill/>
                </a:uFill>
              </a:rPr>
              <a:t>=K8L6KVGG-7o</a:t>
            </a:r>
          </a:p>
          <a:p>
            <a:pPr lvl="0">
              <a:spcBef>
                <a:spcPts val="1200"/>
              </a:spcBef>
            </a:pPr>
            <a:endParaRPr lang="en-US" sz="1400" dirty="0">
              <a:uFill>
                <a:noFill/>
              </a:uFill>
            </a:endParaRPr>
          </a:p>
          <a:p>
            <a:pPr lvl="0">
              <a:spcBef>
                <a:spcPts val="1200"/>
              </a:spcBef>
            </a:pPr>
            <a:endParaRPr lang="en-US" dirty="0"/>
          </a:p>
        </p:txBody>
      </p:sp>
      <p:grpSp>
        <p:nvGrpSpPr>
          <p:cNvPr id="3134" name="Google Shape;3134;p52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3135" name="Google Shape;3135;p52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3136" name="Google Shape;3136;p52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92D7F54C-059E-2D47-9CD4-9E2D92675FC1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EDF6AA80-1012-C741-B677-5356F80FB2A3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0759ED7-951E-2E4B-8CFD-87B7201717EE}"/>
              </a:ext>
            </a:extLst>
          </p:cNvPr>
          <p:cNvSpPr>
            <a:spLocks noGrp="1"/>
          </p:cNvSpPr>
          <p:nvPr>
            <p:ph type="subTitle" idx="2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4" name="Google Shape;2544;p49"/>
          <p:cNvSpPr txBox="1">
            <a:spLocks noGrp="1"/>
          </p:cNvSpPr>
          <p:nvPr>
            <p:ph type="ctrTitle"/>
          </p:nvPr>
        </p:nvSpPr>
        <p:spPr>
          <a:xfrm>
            <a:off x="1139125" y="582056"/>
            <a:ext cx="3064500" cy="53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Thanks; </a:t>
            </a:r>
            <a:r>
              <a:rPr lang="en">
                <a:solidFill>
                  <a:schemeClr val="accent6"/>
                </a:solidFill>
              </a:rPr>
              <a:t>{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2546" name="Google Shape;2546;p49"/>
          <p:cNvSpPr txBox="1">
            <a:spLocks noGrp="1"/>
          </p:cNvSpPr>
          <p:nvPr>
            <p:ph type="subTitle" idx="2"/>
          </p:nvPr>
        </p:nvSpPr>
        <p:spPr>
          <a:xfrm>
            <a:off x="1570575" y="1261025"/>
            <a:ext cx="4572000" cy="43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‘Do you have any questions?’</a:t>
            </a:r>
            <a:endParaRPr/>
          </a:p>
        </p:txBody>
      </p:sp>
      <p:grpSp>
        <p:nvGrpSpPr>
          <p:cNvPr id="2573" name="Google Shape;2573;p49"/>
          <p:cNvGrpSpPr/>
          <p:nvPr/>
        </p:nvGrpSpPr>
        <p:grpSpPr>
          <a:xfrm>
            <a:off x="1084825" y="1152525"/>
            <a:ext cx="506100" cy="3417500"/>
            <a:chOff x="1084825" y="1152525"/>
            <a:chExt cx="506100" cy="3417500"/>
          </a:xfrm>
        </p:grpSpPr>
        <p:sp>
          <p:nvSpPr>
            <p:cNvPr id="2574" name="Google Shape;2574;p49"/>
            <p:cNvSpPr txBox="1"/>
            <p:nvPr/>
          </p:nvSpPr>
          <p:spPr>
            <a:xfrm>
              <a:off x="1084825" y="3954425"/>
              <a:ext cx="5061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2800">
                  <a:solidFill>
                    <a:schemeClr val="accent6"/>
                  </a:solidFill>
                  <a:latin typeface="Fira Code"/>
                  <a:ea typeface="Fira Code"/>
                  <a:cs typeface="Fira Code"/>
                  <a:sym typeface="Fira Code"/>
                </a:rPr>
                <a:t>}</a:t>
              </a:r>
              <a:endParaRPr sz="2800">
                <a:solidFill>
                  <a:schemeClr val="accent6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cxnSp>
          <p:nvCxnSpPr>
            <p:cNvPr id="2575" name="Google Shape;2575;p49"/>
            <p:cNvCxnSpPr/>
            <p:nvPr/>
          </p:nvCxnSpPr>
          <p:spPr>
            <a:xfrm>
              <a:off x="1337875" y="1152525"/>
              <a:ext cx="0" cy="2781000"/>
            </a:xfrm>
            <a:prstGeom prst="straightConnector1">
              <a:avLst/>
            </a:prstGeom>
            <a:noFill/>
            <a:ln w="9525" cap="flat" cmpd="sng">
              <a:solidFill>
                <a:schemeClr val="accent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3F2D217C-4F55-104A-BEA8-820634EE5C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SA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gramming Language Workshop for Beginners by Slidesgo">
  <a:themeElements>
    <a:clrScheme name="Simple Light">
      <a:dk1>
        <a:srgbClr val="2E323B"/>
      </a:dk1>
      <a:lt1>
        <a:srgbClr val="FF5858"/>
      </a:lt1>
      <a:dk2>
        <a:srgbClr val="72D9F0"/>
      </a:dk2>
      <a:lt2>
        <a:srgbClr val="FCC642"/>
      </a:lt2>
      <a:accent1>
        <a:srgbClr val="DBA0DB"/>
      </a:accent1>
      <a:accent2>
        <a:srgbClr val="A5CF27"/>
      </a:accent2>
      <a:accent3>
        <a:srgbClr val="E7E7E7"/>
      </a:accent3>
      <a:accent4>
        <a:srgbClr val="707070"/>
      </a:accent4>
      <a:accent5>
        <a:srgbClr val="16191F"/>
      </a:accent5>
      <a:accent6>
        <a:srgbClr val="FFFFFF"/>
      </a:accent6>
      <a:hlink>
        <a:srgbClr val="FF585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</TotalTime>
  <Words>438</Words>
  <Application>Microsoft Macintosh PowerPoint</Application>
  <PresentationFormat>On-screen Show (16:9)</PresentationFormat>
  <Paragraphs>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Fira Code</vt:lpstr>
      <vt:lpstr>Montserrat</vt:lpstr>
      <vt:lpstr>Arial</vt:lpstr>
      <vt:lpstr>Programming Language Workshop for Beginners by Slidesgo</vt:lpstr>
      <vt:lpstr>{</vt:lpstr>
      <vt:lpstr>Basic Concept { </vt:lpstr>
      <vt:lpstr>Simple Example {</vt:lpstr>
      <vt:lpstr>Meta Characters {</vt:lpstr>
      <vt:lpstr>Meta Characters: Backslash {</vt:lpstr>
      <vt:lpstr>Meta Characters: anchors{</vt:lpstr>
      <vt:lpstr>Meta Characters: Quantifiers{</vt:lpstr>
      <vt:lpstr>Example {</vt:lpstr>
      <vt:lpstr>Practical Examples</vt:lpstr>
      <vt:lpstr>Resources {</vt:lpstr>
      <vt:lpstr>Thanks; {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{</dc:title>
  <cp:lastModifiedBy>سعد</cp:lastModifiedBy>
  <cp:revision>11</cp:revision>
  <dcterms:modified xsi:type="dcterms:W3CDTF">2022-08-02T09:52:06Z</dcterms:modified>
</cp:coreProperties>
</file>