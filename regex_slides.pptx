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60" r:id="rId3"/>
    <p:sldId id="261" r:id="rId4"/>
    <p:sldId id="266" r:id="rId5"/>
    <p:sldId id="303" r:id="rId6"/>
    <p:sldId id="301" r:id="rId7"/>
    <p:sldId id="302" r:id="rId8"/>
    <p:sldId id="300" r:id="rId9"/>
    <p:sldId id="269" r:id="rId10"/>
    <p:sldId id="281" r:id="rId11"/>
    <p:sldId id="278" r:id="rId12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Montserrat" pitchFamily="2" charset="77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9DA2E3-9F6A-47F0-9BAA-281CA8FBBC49}">
  <a:tblStyle styleId="{C49DA2E3-9F6A-47F0-9BAA-281CA8FBBC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64"/>
    <p:restoredTop sz="94666"/>
  </p:normalViewPr>
  <p:slideViewPr>
    <p:cSldViewPr snapToGrid="0" snapToObjects="1">
      <p:cViewPr varScale="1">
        <p:scale>
          <a:sx n="189" d="100"/>
          <a:sy n="189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3157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806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946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737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e7f9c668d6_0_1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e7f9c668d6_0_1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5" name="Google Shape;3125;ge6b9cfce84_3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6" name="Google Shape;3126;ge6b9cfce84_3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ge7b3cc9d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2" name="Google Shape;2542;ge7b3cc9d3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_1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2" name="Google Shape;392;p21"/>
          <p:cNvSpPr txBox="1">
            <a:spLocks noGrp="1"/>
          </p:cNvSpPr>
          <p:nvPr>
            <p:ph type="body" idx="1"/>
          </p:nvPr>
        </p:nvSpPr>
        <p:spPr>
          <a:xfrm>
            <a:off x="2090500" y="1956600"/>
            <a:ext cx="5111400" cy="2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∗"/>
              <a:defRPr sz="2000">
                <a:solidFill>
                  <a:schemeClr val="accent3"/>
                </a:solidFill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 sz="1200">
                <a:solidFill>
                  <a:schemeClr val="accent3"/>
                </a:solidFill>
              </a:defRPr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93" name="Google Shape;393;p21"/>
          <p:cNvSpPr txBox="1">
            <a:spLocks noGrp="1"/>
          </p:cNvSpPr>
          <p:nvPr>
            <p:ph type="subTitle" idx="2"/>
          </p:nvPr>
        </p:nvSpPr>
        <p:spPr>
          <a:xfrm>
            <a:off x="1676975" y="1309850"/>
            <a:ext cx="54507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94" name="Google Shape;394;p21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9" name="Google Shape;399;p22"/>
          <p:cNvSpPr txBox="1">
            <a:spLocks noGrp="1"/>
          </p:cNvSpPr>
          <p:nvPr>
            <p:ph type="subTitle" idx="1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0" name="Google Shape;400;p22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8" r:id="rId5"/>
    <p:sldLayoutId id="2147483665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QQsYXa1EH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{</a:t>
            </a: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666575" y="2307162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Regular Expressions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/>
          <p:cNvSpPr txBox="1">
            <a:spLocks noGrp="1"/>
          </p:cNvSpPr>
          <p:nvPr>
            <p:ph type="subTitle" idx="2"/>
          </p:nvPr>
        </p:nvSpPr>
        <p:spPr>
          <a:xfrm>
            <a:off x="2311712" y="2181748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Regular Expressions is a tool that allows us to search for spec</a:t>
            </a:r>
            <a:r>
              <a:rPr lang="en-US" dirty="0" err="1"/>
              <a:t>i</a:t>
            </a:r>
            <a:r>
              <a:rPr lang="en" dirty="0"/>
              <a:t>fic patterns in text </a:t>
            </a:r>
            <a:endParaRPr dirty="0"/>
          </a:p>
        </p:txBody>
      </p:sp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90958" y="1594939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Basic Concept 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/>
          </a:p>
        </p:txBody>
      </p:sp>
      <p:grpSp>
        <p:nvGrpSpPr>
          <p:cNvPr id="554" name="Google Shape;554;p31"/>
          <p:cNvGrpSpPr/>
          <p:nvPr/>
        </p:nvGrpSpPr>
        <p:grpSpPr>
          <a:xfrm>
            <a:off x="1132533" y="2181748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3" name="Subtitle 12">
            <a:extLst>
              <a:ext uri="{FF2B5EF4-FFF2-40B4-BE49-F238E27FC236}">
                <a16:creationId xmlns:a16="http://schemas.microsoft.com/office/drawing/2014/main" id="{A82FD6D9-A02D-CD4C-8A2B-EA754199F02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56656FEE-8D11-C345-8371-50966A14451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S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Simple Example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562" name="Google Shape;562;p32"/>
          <p:cNvSpPr txBox="1">
            <a:spLocks noGrp="1"/>
          </p:cNvSpPr>
          <p:nvPr>
            <p:ph type="subTitle" idx="1"/>
          </p:nvPr>
        </p:nvSpPr>
        <p:spPr>
          <a:xfrm>
            <a:off x="1672862" y="1869475"/>
            <a:ext cx="5960379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‘Saad Ate an Apple’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If the regex pattern is “Apple” it will match the string </a:t>
            </a: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" name="Subtitle 9">
            <a:extLst>
              <a:ext uri="{FF2B5EF4-FFF2-40B4-BE49-F238E27FC236}">
                <a16:creationId xmlns:a16="http://schemas.microsoft.com/office/drawing/2014/main" id="{99EFDB65-86B2-0F4A-BA7D-F767936D04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ADAB1D3-4F17-5B41-BEAB-2D0929BA1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F645DD7-9B1B-5543-AE3B-E8E55158A4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body" idx="1"/>
          </p:nvPr>
        </p:nvSpPr>
        <p:spPr>
          <a:xfrm>
            <a:off x="2280025" y="1299450"/>
            <a:ext cx="6080723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n-US" dirty="0">
                <a:solidFill>
                  <a:schemeClr val="accent3"/>
                </a:solidFill>
              </a:rPr>
              <a:t>C</a:t>
            </a:r>
            <a:r>
              <a:rPr lang="en" dirty="0" err="1">
                <a:solidFill>
                  <a:schemeClr val="accent3"/>
                </a:solidFill>
              </a:rPr>
              <a:t>haracter</a:t>
            </a:r>
            <a:r>
              <a:rPr lang="en" dirty="0">
                <a:solidFill>
                  <a:schemeClr val="accent3"/>
                </a:solidFill>
              </a:rPr>
              <a:t> class: [A-Z] or [0-9]</a:t>
            </a:r>
          </a:p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n-US" dirty="0">
                <a:solidFill>
                  <a:schemeClr val="accent3"/>
                </a:solidFill>
              </a:rPr>
              <a:t>I</a:t>
            </a:r>
            <a:r>
              <a:rPr lang="en" dirty="0">
                <a:solidFill>
                  <a:schemeClr val="accent3"/>
                </a:solidFill>
              </a:rPr>
              <a:t>t can be multiple classes at once: [A-Z0-9]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Meta Characters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4" name="Google Shape;784;p37"/>
          <p:cNvSpPr txBox="1">
            <a:spLocks noGrp="1"/>
          </p:cNvSpPr>
          <p:nvPr>
            <p:ph type="title" idx="2"/>
          </p:nvPr>
        </p:nvSpPr>
        <p:spPr>
          <a:xfrm flipH="1">
            <a:off x="1590925" y="139987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[ ]</a:t>
            </a:r>
            <a:endParaRPr dirty="0"/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782;p37">
            <a:extLst>
              <a:ext uri="{FF2B5EF4-FFF2-40B4-BE49-F238E27FC236}">
                <a16:creationId xmlns:a16="http://schemas.microsoft.com/office/drawing/2014/main" id="{EDD49C9A-C71E-EC4D-9515-932EE25FD4AD}"/>
              </a:ext>
            </a:extLst>
          </p:cNvPr>
          <p:cNvSpPr txBox="1">
            <a:spLocks/>
          </p:cNvSpPr>
          <p:nvPr/>
        </p:nvSpPr>
        <p:spPr>
          <a:xfrm>
            <a:off x="2280025" y="2195850"/>
            <a:ext cx="6998244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Used for grouped to use with other clauses</a:t>
            </a:r>
          </a:p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For example: ^(+966)561550501</a:t>
            </a:r>
          </a:p>
        </p:txBody>
      </p:sp>
      <p:sp>
        <p:nvSpPr>
          <p:cNvPr id="19" name="Google Shape;784;p37">
            <a:extLst>
              <a:ext uri="{FF2B5EF4-FFF2-40B4-BE49-F238E27FC236}">
                <a16:creationId xmlns:a16="http://schemas.microsoft.com/office/drawing/2014/main" id="{E90289AC-2E24-FF4D-A953-D3C7098B5B67}"/>
              </a:ext>
            </a:extLst>
          </p:cNvPr>
          <p:cNvSpPr txBox="1">
            <a:spLocks/>
          </p:cNvSpPr>
          <p:nvPr/>
        </p:nvSpPr>
        <p:spPr>
          <a:xfrm flipH="1">
            <a:off x="1590925" y="2317807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( )</a:t>
            </a:r>
          </a:p>
        </p:txBody>
      </p:sp>
      <p:sp>
        <p:nvSpPr>
          <p:cNvPr id="20" name="Google Shape;782;p37">
            <a:extLst>
              <a:ext uri="{FF2B5EF4-FFF2-40B4-BE49-F238E27FC236}">
                <a16:creationId xmlns:a16="http://schemas.microsoft.com/office/drawing/2014/main" id="{255BC503-894F-E24C-80B2-70FCDA0908EE}"/>
              </a:ext>
            </a:extLst>
          </p:cNvPr>
          <p:cNvSpPr txBox="1">
            <a:spLocks/>
          </p:cNvSpPr>
          <p:nvPr/>
        </p:nvSpPr>
        <p:spPr>
          <a:xfrm>
            <a:off x="2280025" y="3155620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Matches anything except newline</a:t>
            </a:r>
          </a:p>
        </p:txBody>
      </p:sp>
      <p:sp>
        <p:nvSpPr>
          <p:cNvPr id="21" name="Google Shape;784;p37">
            <a:extLst>
              <a:ext uri="{FF2B5EF4-FFF2-40B4-BE49-F238E27FC236}">
                <a16:creationId xmlns:a16="http://schemas.microsoft.com/office/drawing/2014/main" id="{8CD18A5B-6665-9E42-9A65-04B65DD8C205}"/>
              </a:ext>
            </a:extLst>
          </p:cNvPr>
          <p:cNvSpPr txBox="1">
            <a:spLocks/>
          </p:cNvSpPr>
          <p:nvPr/>
        </p:nvSpPr>
        <p:spPr>
          <a:xfrm flipH="1">
            <a:off x="1672525" y="3236376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.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7547F54-5B78-A249-A7D5-652AD9C03EB2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B5B499D-1D45-EA43-9C3E-3C40825ACFF2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25B77C7D-58AB-CE40-866C-BAC2211D8B77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Meta Characters: Backslash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782;p37">
            <a:extLst>
              <a:ext uri="{FF2B5EF4-FFF2-40B4-BE49-F238E27FC236}">
                <a16:creationId xmlns:a16="http://schemas.microsoft.com/office/drawing/2014/main" id="{EDD49C9A-C71E-EC4D-9515-932EE25FD4AD}"/>
              </a:ext>
            </a:extLst>
          </p:cNvPr>
          <p:cNvSpPr txBox="1">
            <a:spLocks/>
          </p:cNvSpPr>
          <p:nvPr/>
        </p:nvSpPr>
        <p:spPr>
          <a:xfrm>
            <a:off x="2198425" y="1188113"/>
            <a:ext cx="6998244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Escapes Meta Characters inside character classes: “\[“ will match a literal “[“</a:t>
            </a:r>
          </a:p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Can be used to call special sequences</a:t>
            </a:r>
          </a:p>
        </p:txBody>
      </p:sp>
      <p:sp>
        <p:nvSpPr>
          <p:cNvPr id="19" name="Google Shape;784;p37">
            <a:extLst>
              <a:ext uri="{FF2B5EF4-FFF2-40B4-BE49-F238E27FC236}">
                <a16:creationId xmlns:a16="http://schemas.microsoft.com/office/drawing/2014/main" id="{E90289AC-2E24-FF4D-A953-D3C7098B5B67}"/>
              </a:ext>
            </a:extLst>
          </p:cNvPr>
          <p:cNvSpPr txBox="1">
            <a:spLocks/>
          </p:cNvSpPr>
          <p:nvPr/>
        </p:nvSpPr>
        <p:spPr>
          <a:xfrm flipH="1">
            <a:off x="1590925" y="1204656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\</a:t>
            </a:r>
          </a:p>
        </p:txBody>
      </p:sp>
      <p:sp>
        <p:nvSpPr>
          <p:cNvPr id="20" name="Google Shape;782;p37">
            <a:extLst>
              <a:ext uri="{FF2B5EF4-FFF2-40B4-BE49-F238E27FC236}">
                <a16:creationId xmlns:a16="http://schemas.microsoft.com/office/drawing/2014/main" id="{255BC503-894F-E24C-80B2-70FCDA0908EE}"/>
              </a:ext>
            </a:extLst>
          </p:cNvPr>
          <p:cNvSpPr txBox="1">
            <a:spLocks/>
          </p:cNvSpPr>
          <p:nvPr/>
        </p:nvSpPr>
        <p:spPr>
          <a:xfrm>
            <a:off x="1459006" y="2004126"/>
            <a:ext cx="7469842" cy="1903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Special Sequences:</a:t>
            </a:r>
          </a:p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\d matches all digits [0-9]</a:t>
            </a:r>
          </a:p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\w matches letters, digits and underscore [A-Za-z0-9_]</a:t>
            </a:r>
          </a:p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\s matches space, tab and newline</a:t>
            </a:r>
          </a:p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\b matches word boundary (the start of a word or the end of it)</a:t>
            </a:r>
          </a:p>
          <a:p>
            <a:pPr marL="341342" indent="-265184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1" name="Google Shape;784;p37">
            <a:extLst>
              <a:ext uri="{FF2B5EF4-FFF2-40B4-BE49-F238E27FC236}">
                <a16:creationId xmlns:a16="http://schemas.microsoft.com/office/drawing/2014/main" id="{8CD18A5B-6665-9E42-9A65-04B65DD8C205}"/>
              </a:ext>
            </a:extLst>
          </p:cNvPr>
          <p:cNvSpPr txBox="1">
            <a:spLocks/>
          </p:cNvSpPr>
          <p:nvPr/>
        </p:nvSpPr>
        <p:spPr>
          <a:xfrm flipH="1">
            <a:off x="1672525" y="3236376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 lang="e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7547F54-5B78-A249-A7D5-652AD9C03EB2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B5B499D-1D45-EA43-9C3E-3C40825ACFF2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0077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body" idx="1"/>
          </p:nvPr>
        </p:nvSpPr>
        <p:spPr>
          <a:xfrm>
            <a:off x="2157703" y="1583408"/>
            <a:ext cx="6909365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n-US" dirty="0">
                <a:solidFill>
                  <a:schemeClr val="accent3"/>
                </a:solidFill>
              </a:rPr>
              <a:t>Used to specify the start of a pattern: ^+966 any string that starts with +966</a:t>
            </a:r>
          </a:p>
          <a:p>
            <a:pPr marL="76158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" dirty="0">
              <a:solidFill>
                <a:schemeClr val="accent3"/>
              </a:solidFill>
            </a:endParaRPr>
          </a:p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n-US" dirty="0">
                <a:solidFill>
                  <a:schemeClr val="accent3"/>
                </a:solidFill>
              </a:rPr>
              <a:t>If used at the start of a character class it negate the class: [^0-9] anything except numbers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Meta Characters: anchors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4" name="Google Shape;784;p37"/>
          <p:cNvSpPr txBox="1">
            <a:spLocks noGrp="1"/>
          </p:cNvSpPr>
          <p:nvPr>
            <p:ph type="title" idx="2"/>
          </p:nvPr>
        </p:nvSpPr>
        <p:spPr>
          <a:xfrm flipH="1">
            <a:off x="1468603" y="1683831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^</a:t>
            </a:r>
            <a:endParaRPr dirty="0"/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782;p37">
            <a:extLst>
              <a:ext uri="{FF2B5EF4-FFF2-40B4-BE49-F238E27FC236}">
                <a16:creationId xmlns:a16="http://schemas.microsoft.com/office/drawing/2014/main" id="{EDD49C9A-C71E-EC4D-9515-932EE25FD4AD}"/>
              </a:ext>
            </a:extLst>
          </p:cNvPr>
          <p:cNvSpPr txBox="1">
            <a:spLocks/>
          </p:cNvSpPr>
          <p:nvPr/>
        </p:nvSpPr>
        <p:spPr>
          <a:xfrm>
            <a:off x="2076103" y="2974558"/>
            <a:ext cx="6998244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Used to specify the end of a pattern: \.com$ will match any string that ends with the word .com</a:t>
            </a:r>
          </a:p>
        </p:txBody>
      </p:sp>
      <p:sp>
        <p:nvSpPr>
          <p:cNvPr id="19" name="Google Shape;784;p37">
            <a:extLst>
              <a:ext uri="{FF2B5EF4-FFF2-40B4-BE49-F238E27FC236}">
                <a16:creationId xmlns:a16="http://schemas.microsoft.com/office/drawing/2014/main" id="{E90289AC-2E24-FF4D-A953-D3C7098B5B67}"/>
              </a:ext>
            </a:extLst>
          </p:cNvPr>
          <p:cNvSpPr txBox="1">
            <a:spLocks/>
          </p:cNvSpPr>
          <p:nvPr/>
        </p:nvSpPr>
        <p:spPr>
          <a:xfrm flipH="1">
            <a:off x="1468603" y="3087930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$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1DAE4-965F-0742-BBB7-6AEB7A75AE20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27FC34-01D1-DA47-93E8-127CA629DD02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E95E003-60C8-6B48-A9EF-515669402E93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92385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body" idx="1"/>
          </p:nvPr>
        </p:nvSpPr>
        <p:spPr>
          <a:xfrm>
            <a:off x="2096115" y="1381136"/>
            <a:ext cx="6080723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/>
            <a:r>
              <a:rPr lang="en-US" dirty="0">
                <a:solidFill>
                  <a:schemeClr val="accent3"/>
                </a:solidFill>
              </a:rPr>
              <a:t>Used to specify an exact number of occurrences: a{3} will match only if a is repeated 3 times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Meta Characters: Quantifiers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4" name="Google Shape;784;p37"/>
          <p:cNvSpPr txBox="1">
            <a:spLocks noGrp="1"/>
          </p:cNvSpPr>
          <p:nvPr>
            <p:ph type="title" idx="2"/>
          </p:nvPr>
        </p:nvSpPr>
        <p:spPr>
          <a:xfrm flipH="1">
            <a:off x="1407015" y="1481559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 }</a:t>
            </a:r>
            <a:endParaRPr dirty="0"/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782;p37">
            <a:extLst>
              <a:ext uri="{FF2B5EF4-FFF2-40B4-BE49-F238E27FC236}">
                <a16:creationId xmlns:a16="http://schemas.microsoft.com/office/drawing/2014/main" id="{EDD49C9A-C71E-EC4D-9515-932EE25FD4AD}"/>
              </a:ext>
            </a:extLst>
          </p:cNvPr>
          <p:cNvSpPr txBox="1">
            <a:spLocks/>
          </p:cNvSpPr>
          <p:nvPr/>
        </p:nvSpPr>
        <p:spPr>
          <a:xfrm>
            <a:off x="2096115" y="2170741"/>
            <a:ext cx="6998244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Used to specify 0 or more occurrences: a* will match a aa </a:t>
            </a:r>
            <a:r>
              <a:rPr lang="en-US" dirty="0" err="1">
                <a:solidFill>
                  <a:schemeClr val="accent3"/>
                </a:solidFill>
              </a:rPr>
              <a:t>aaa</a:t>
            </a:r>
            <a:r>
              <a:rPr lang="en-US" dirty="0">
                <a:solidFill>
                  <a:schemeClr val="accent3"/>
                </a:solidFill>
              </a:rPr>
              <a:t> ..</a:t>
            </a:r>
            <a:r>
              <a:rPr lang="en-US" dirty="0" err="1">
                <a:solidFill>
                  <a:schemeClr val="accent3"/>
                </a:solidFill>
              </a:rPr>
              <a:t>etc</a:t>
            </a:r>
            <a:r>
              <a:rPr lang="en-US" dirty="0">
                <a:solidFill>
                  <a:schemeClr val="accent3"/>
                </a:solidFill>
              </a:rPr>
              <a:t> or no a’s at all </a:t>
            </a:r>
          </a:p>
        </p:txBody>
      </p:sp>
      <p:sp>
        <p:nvSpPr>
          <p:cNvPr id="19" name="Google Shape;784;p37">
            <a:extLst>
              <a:ext uri="{FF2B5EF4-FFF2-40B4-BE49-F238E27FC236}">
                <a16:creationId xmlns:a16="http://schemas.microsoft.com/office/drawing/2014/main" id="{E90289AC-2E24-FF4D-A953-D3C7098B5B67}"/>
              </a:ext>
            </a:extLst>
          </p:cNvPr>
          <p:cNvSpPr txBox="1">
            <a:spLocks/>
          </p:cNvSpPr>
          <p:nvPr/>
        </p:nvSpPr>
        <p:spPr>
          <a:xfrm flipH="1">
            <a:off x="1488615" y="228411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*</a:t>
            </a:r>
          </a:p>
        </p:txBody>
      </p:sp>
      <p:sp>
        <p:nvSpPr>
          <p:cNvPr id="15" name="Google Shape;782;p37">
            <a:extLst>
              <a:ext uri="{FF2B5EF4-FFF2-40B4-BE49-F238E27FC236}">
                <a16:creationId xmlns:a16="http://schemas.microsoft.com/office/drawing/2014/main" id="{AF307344-F286-6D43-BB6A-19EA6280B888}"/>
              </a:ext>
            </a:extLst>
          </p:cNvPr>
          <p:cNvSpPr txBox="1">
            <a:spLocks/>
          </p:cNvSpPr>
          <p:nvPr/>
        </p:nvSpPr>
        <p:spPr>
          <a:xfrm>
            <a:off x="2096115" y="2846930"/>
            <a:ext cx="6998244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Used to specify 1 or more occurrences: a+ will match a aa </a:t>
            </a:r>
            <a:r>
              <a:rPr lang="en-US" dirty="0" err="1">
                <a:solidFill>
                  <a:schemeClr val="accent3"/>
                </a:solidFill>
              </a:rPr>
              <a:t>aaa</a:t>
            </a:r>
            <a:r>
              <a:rPr lang="en-US" dirty="0">
                <a:solidFill>
                  <a:schemeClr val="accent3"/>
                </a:solidFill>
              </a:rPr>
              <a:t> ..</a:t>
            </a:r>
            <a:r>
              <a:rPr lang="en-US" dirty="0" err="1">
                <a:solidFill>
                  <a:schemeClr val="accent3"/>
                </a:solidFill>
              </a:rPr>
              <a:t>etc</a:t>
            </a:r>
            <a:r>
              <a:rPr lang="en-US" dirty="0">
                <a:solidFill>
                  <a:schemeClr val="accent3"/>
                </a:solidFill>
              </a:rPr>
              <a:t> but no a’s at all won’t match</a:t>
            </a:r>
          </a:p>
        </p:txBody>
      </p:sp>
      <p:sp>
        <p:nvSpPr>
          <p:cNvPr id="16" name="Google Shape;784;p37">
            <a:extLst>
              <a:ext uri="{FF2B5EF4-FFF2-40B4-BE49-F238E27FC236}">
                <a16:creationId xmlns:a16="http://schemas.microsoft.com/office/drawing/2014/main" id="{640A8E85-B2F8-8242-8E47-D16A64A437B6}"/>
              </a:ext>
            </a:extLst>
          </p:cNvPr>
          <p:cNvSpPr txBox="1">
            <a:spLocks/>
          </p:cNvSpPr>
          <p:nvPr/>
        </p:nvSpPr>
        <p:spPr>
          <a:xfrm flipH="1">
            <a:off x="1488615" y="2960302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A94A9-44D2-A049-8E1B-BEF924491B1F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3305837-7328-A747-8CFB-2AD0BA3309EC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76A64F-ABCC-2E47-A0A8-AD6745502859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17" name="Google Shape;784;p37">
            <a:extLst>
              <a:ext uri="{FF2B5EF4-FFF2-40B4-BE49-F238E27FC236}">
                <a16:creationId xmlns:a16="http://schemas.microsoft.com/office/drawing/2014/main" id="{C7B3E918-2305-F44A-AB23-E3BC7086F311}"/>
              </a:ext>
            </a:extLst>
          </p:cNvPr>
          <p:cNvSpPr txBox="1">
            <a:spLocks/>
          </p:cNvSpPr>
          <p:nvPr/>
        </p:nvSpPr>
        <p:spPr>
          <a:xfrm flipH="1">
            <a:off x="1486656" y="3535974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?</a:t>
            </a:r>
          </a:p>
        </p:txBody>
      </p:sp>
      <p:sp>
        <p:nvSpPr>
          <p:cNvPr id="21" name="Google Shape;782;p37">
            <a:extLst>
              <a:ext uri="{FF2B5EF4-FFF2-40B4-BE49-F238E27FC236}">
                <a16:creationId xmlns:a16="http://schemas.microsoft.com/office/drawing/2014/main" id="{F2AB14EF-9D69-5F47-9966-CBF7821FA465}"/>
              </a:ext>
            </a:extLst>
          </p:cNvPr>
          <p:cNvSpPr txBox="1">
            <a:spLocks/>
          </p:cNvSpPr>
          <p:nvPr/>
        </p:nvSpPr>
        <p:spPr>
          <a:xfrm>
            <a:off x="2096115" y="3436719"/>
            <a:ext cx="6998244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Used to specify 1 or 0 occurrences: a? will match a or no a, which means a is optional</a:t>
            </a:r>
          </a:p>
        </p:txBody>
      </p:sp>
    </p:spTree>
    <p:extLst>
      <p:ext uri="{BB962C8B-B14F-4D97-AF65-F5344CB8AC3E}">
        <p14:creationId xmlns:p14="http://schemas.microsoft.com/office/powerpoint/2010/main" val="391894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562" name="Google Shape;562;p32"/>
          <p:cNvSpPr txBox="1">
            <a:spLocks noGrp="1"/>
          </p:cNvSpPr>
          <p:nvPr>
            <p:ph type="subTitle" idx="1"/>
          </p:nvPr>
        </p:nvSpPr>
        <p:spPr>
          <a:xfrm>
            <a:off x="1672862" y="1869475"/>
            <a:ext cx="5960379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‘Saad email is </a:t>
            </a:r>
            <a:r>
              <a:rPr lang="en" dirty="0" err="1">
                <a:solidFill>
                  <a:schemeClr val="accent2"/>
                </a:solidFill>
              </a:rPr>
              <a:t>saadgh@gmail.com</a:t>
            </a:r>
            <a:r>
              <a:rPr lang="en" dirty="0">
                <a:solidFill>
                  <a:schemeClr val="accent2"/>
                </a:solidFill>
              </a:rPr>
              <a:t>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accent2"/>
              </a:solidFill>
            </a:endParaRPr>
          </a:p>
          <a:p>
            <a:pPr marL="0" indent="0"/>
            <a:r>
              <a:rPr lang="en-US" dirty="0">
                <a:solidFill>
                  <a:schemeClr val="accent3"/>
                </a:solidFill>
              </a:rPr>
              <a:t>Pattern = </a:t>
            </a:r>
            <a:r>
              <a:rPr lang="en-US" dirty="0"/>
              <a:t>[A-Za-z0-9]+@[a-z]+.com</a:t>
            </a: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EC4D50D-C3E0-B342-8D73-FA0D4ECE6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6C6E8F-1594-4E4A-B249-9D2F45251B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18773FF-A92C-7241-A0F5-4A65B9346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3438153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0"/>
          <p:cNvSpPr txBox="1">
            <a:spLocks noGrp="1"/>
          </p:cNvSpPr>
          <p:nvPr>
            <p:ph type="title"/>
          </p:nvPr>
        </p:nvSpPr>
        <p:spPr>
          <a:xfrm>
            <a:off x="1329447" y="1194149"/>
            <a:ext cx="5625203" cy="20808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Practical Examples</a:t>
            </a:r>
            <a:endParaRPr sz="5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8" name="Google Shape;3128;p52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Resources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3129" name="Google Shape;3129;p52"/>
          <p:cNvSpPr txBox="1">
            <a:spLocks noGrp="1"/>
          </p:cNvSpPr>
          <p:nvPr>
            <p:ph type="body" idx="1"/>
          </p:nvPr>
        </p:nvSpPr>
        <p:spPr>
          <a:xfrm>
            <a:off x="1590925" y="1263720"/>
            <a:ext cx="7241521" cy="2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Documentation:</a:t>
            </a:r>
            <a:endParaRPr dirty="0">
              <a:solidFill>
                <a:schemeClr val="accent2"/>
              </a:solidFill>
            </a:endParaRPr>
          </a:p>
          <a:p>
            <a:pPr lvl="0">
              <a:spcBef>
                <a:spcPts val="1200"/>
              </a:spcBef>
            </a:pPr>
            <a:r>
              <a:rPr lang="en-US" sz="1400" dirty="0">
                <a:uFill>
                  <a:noFill/>
                </a:uFill>
              </a:rPr>
              <a:t>https://</a:t>
            </a:r>
            <a:r>
              <a:rPr lang="en-US" sz="1400" dirty="0" err="1">
                <a:uFill>
                  <a:noFill/>
                </a:uFill>
              </a:rPr>
              <a:t>docs.python.org</a:t>
            </a:r>
            <a:r>
              <a:rPr lang="en-US" sz="1400" dirty="0">
                <a:uFill>
                  <a:noFill/>
                </a:uFill>
              </a:rPr>
              <a:t>/3/</a:t>
            </a:r>
            <a:r>
              <a:rPr lang="en-US" sz="1400" dirty="0" err="1">
                <a:uFill>
                  <a:noFill/>
                </a:uFill>
              </a:rPr>
              <a:t>howto</a:t>
            </a:r>
            <a:r>
              <a:rPr lang="en-US" sz="1400" dirty="0">
                <a:uFill>
                  <a:noFill/>
                </a:uFill>
              </a:rPr>
              <a:t>/</a:t>
            </a:r>
            <a:r>
              <a:rPr lang="en-US" sz="1400" dirty="0" err="1">
                <a:uFill>
                  <a:noFill/>
                </a:uFill>
              </a:rPr>
              <a:t>regex.html#splitting-strings</a:t>
            </a:r>
            <a:r>
              <a:rPr lang="en-US" sz="1400" dirty="0">
                <a:uFill>
                  <a:noFill/>
                </a:uFill>
              </a:rPr>
              <a:t> </a:t>
            </a:r>
          </a:p>
          <a:p>
            <a:pPr lvl="0">
              <a:spcBef>
                <a:spcPts val="1200"/>
              </a:spcBef>
            </a:pPr>
            <a:r>
              <a:rPr lang="en-US" sz="1400" dirty="0">
                <a:uFill>
                  <a:noFill/>
                </a:uFill>
              </a:rPr>
              <a:t>https://</a:t>
            </a:r>
            <a:r>
              <a:rPr lang="en-US" sz="1400" dirty="0" err="1">
                <a:uFill>
                  <a:noFill/>
                </a:uFill>
              </a:rPr>
              <a:t>docs.python.org</a:t>
            </a:r>
            <a:r>
              <a:rPr lang="en-US" sz="1400" dirty="0">
                <a:uFill>
                  <a:noFill/>
                </a:uFill>
              </a:rPr>
              <a:t>/3/library/</a:t>
            </a:r>
            <a:r>
              <a:rPr lang="en-US" sz="1400" dirty="0" err="1">
                <a:uFill>
                  <a:noFill/>
                </a:uFill>
              </a:rPr>
              <a:t>re.html#text-munging</a:t>
            </a:r>
            <a:r>
              <a:rPr lang="en-US" sz="1400" dirty="0">
                <a:uFill>
                  <a:noFill/>
                </a:uFill>
              </a:rPr>
              <a:t> </a:t>
            </a:r>
          </a:p>
          <a:p>
            <a:pPr lvl="0">
              <a:spcBef>
                <a:spcPts val="1200"/>
              </a:spcBef>
            </a:pPr>
            <a:endParaRPr lang="en-US" sz="1400" dirty="0">
              <a:uFill>
                <a:noFill/>
              </a:uFill>
            </a:endParaRPr>
          </a:p>
          <a:p>
            <a:pPr marL="139700" lvl="0" indent="0">
              <a:spcBef>
                <a:spcPts val="1200"/>
              </a:spcBef>
              <a:buNone/>
            </a:pPr>
            <a:r>
              <a:rPr lang="en" dirty="0" err="1">
                <a:solidFill>
                  <a:schemeClr val="accent1"/>
                </a:solidFill>
              </a:rPr>
              <a:t>Youtube</a:t>
            </a:r>
            <a:r>
              <a:rPr lang="en" dirty="0">
                <a:solidFill>
                  <a:schemeClr val="accent1"/>
                </a:solidFill>
              </a:rPr>
              <a:t> Videos:</a:t>
            </a:r>
          </a:p>
          <a:p>
            <a:pPr lvl="0"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https://www.youtube.com/watch?v=UQQsYXa1EHs</a:t>
            </a:r>
            <a:endParaRPr lang="en-US" sz="1400" dirty="0">
              <a:solidFill>
                <a:schemeClr val="bg1"/>
              </a:solidFill>
              <a:uFill>
                <a:noFill/>
              </a:uFill>
            </a:endParaRPr>
          </a:p>
          <a:p>
            <a:pPr lvl="0"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uFill>
                  <a:noFill/>
                </a:uFill>
              </a:rPr>
              <a:t>https://</a:t>
            </a:r>
            <a:r>
              <a:rPr lang="en-US" sz="1400" dirty="0" err="1">
                <a:solidFill>
                  <a:schemeClr val="bg1"/>
                </a:solidFill>
                <a:uFill>
                  <a:noFill/>
                </a:uFill>
              </a:rPr>
              <a:t>www.youtube.com</a:t>
            </a:r>
            <a:r>
              <a:rPr lang="en-US" sz="1400" dirty="0">
                <a:solidFill>
                  <a:schemeClr val="bg1"/>
                </a:solidFill>
                <a:uFill>
                  <a:noFill/>
                </a:uFill>
              </a:rPr>
              <a:t>/</a:t>
            </a:r>
            <a:r>
              <a:rPr lang="en-US" sz="1400" dirty="0" err="1">
                <a:solidFill>
                  <a:schemeClr val="bg1"/>
                </a:solidFill>
                <a:uFill>
                  <a:noFill/>
                </a:uFill>
              </a:rPr>
              <a:t>watch?v</a:t>
            </a:r>
            <a:r>
              <a:rPr lang="en-US" sz="1400" dirty="0">
                <a:solidFill>
                  <a:schemeClr val="bg1"/>
                </a:solidFill>
                <a:uFill>
                  <a:noFill/>
                </a:uFill>
              </a:rPr>
              <a:t>=K8L6KVGG-7o</a:t>
            </a:r>
          </a:p>
          <a:p>
            <a:pPr lvl="0">
              <a:spcBef>
                <a:spcPts val="1200"/>
              </a:spcBef>
            </a:pPr>
            <a:endParaRPr lang="en-US" sz="1400" dirty="0">
              <a:uFill>
                <a:noFill/>
              </a:uFill>
            </a:endParaRPr>
          </a:p>
          <a:p>
            <a:pPr lvl="0">
              <a:spcBef>
                <a:spcPts val="1200"/>
              </a:spcBef>
            </a:pPr>
            <a:endParaRPr lang="en-US" dirty="0"/>
          </a:p>
        </p:txBody>
      </p:sp>
      <p:grpSp>
        <p:nvGrpSpPr>
          <p:cNvPr id="3134" name="Google Shape;3134;p52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3135" name="Google Shape;3135;p52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3136" name="Google Shape;3136;p52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2D7F54C-059E-2D47-9CD4-9E2D92675FC1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DF6AA80-1012-C741-B677-5356F80FB2A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0759ED7-951E-2E4B-8CFD-87B7201717E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49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Thanks;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546" name="Google Shape;2546;p49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‘Do you have any questions?’</a:t>
            </a:r>
            <a:endParaRPr/>
          </a:p>
        </p:txBody>
      </p:sp>
      <p:grpSp>
        <p:nvGrpSpPr>
          <p:cNvPr id="2573" name="Google Shape;2573;p49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2574" name="Google Shape;2574;p4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2575" name="Google Shape;2575;p49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3F2D217C-4F55-104A-BEA8-820634EE5C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443</Words>
  <Application>Microsoft Macintosh PowerPoint</Application>
  <PresentationFormat>On-screen Show (16:9)</PresentationFormat>
  <Paragraphs>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Fira Code</vt:lpstr>
      <vt:lpstr>Montserrat</vt:lpstr>
      <vt:lpstr>Arial</vt:lpstr>
      <vt:lpstr>Programming Language Workshop for Beginners by Slidesgo</vt:lpstr>
      <vt:lpstr>{</vt:lpstr>
      <vt:lpstr>Basic Concept { </vt:lpstr>
      <vt:lpstr>Simple Example {</vt:lpstr>
      <vt:lpstr>Meta Characters {</vt:lpstr>
      <vt:lpstr>Meta Characters: Backslash {</vt:lpstr>
      <vt:lpstr>Meta Characters: anchors{</vt:lpstr>
      <vt:lpstr>Meta Characters: Quantifiers{</vt:lpstr>
      <vt:lpstr>Example {</vt:lpstr>
      <vt:lpstr>Practical Examples</vt:lpstr>
      <vt:lpstr>Resources {</vt:lpstr>
      <vt:lpstr>Thanks;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</dc:title>
  <cp:lastModifiedBy>سعد</cp:lastModifiedBy>
  <cp:revision>7</cp:revision>
  <dcterms:modified xsi:type="dcterms:W3CDTF">2022-08-02T09:10:50Z</dcterms:modified>
</cp:coreProperties>
</file>